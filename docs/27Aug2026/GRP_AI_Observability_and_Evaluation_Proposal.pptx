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205740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rvir-global-collabor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585216"/>
            <a:ext cx="1737360" cy="23975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738360" y="502920"/>
            <a:ext cx="1810512" cy="310896"/>
          </a:xfrm>
          <a:prstGeom prst="roundRect">
            <a:avLst/>
          </a:prstGeom>
          <a:solidFill>
            <a:srgbClr val="23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38360" y="512064"/>
            <a:ext cx="1810512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Roboto"/>
              </a:rPr>
              <a:t>TEAM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08760"/>
            <a:ext cx="98755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4A9ADA"/>
                </a:solidFill>
                <a:latin typeface="Roboto Condensed"/>
              </a:rPr>
              <a:t>AI OBSERVABILITY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01952"/>
            <a:ext cx="10607040" cy="1097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>
                <a:solidFill>
                  <a:srgbClr val="FFFFFF"/>
                </a:solidFill>
                <a:latin typeface="Roboto Condensed"/>
              </a:rPr>
              <a:t>Making every GRP answer
traceable, testable and governable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19272"/>
            <a:ext cx="8961120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D2E1E9"/>
                </a:solidFill>
                <a:latin typeface="Roboto"/>
              </a:rPr>
              <a:t>LangGraph workflow tracing · Langfuse Cloud · repeatable evaluation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297680"/>
            <a:ext cx="10835640" cy="1143000"/>
          </a:xfrm>
          <a:prstGeom prst="roundRect">
            <a:avLst/>
          </a:prstGeom>
          <a:solidFill>
            <a:srgbClr val="2F2F2F"/>
          </a:solidFill>
          <a:ln w="12700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35424"/>
            <a:ext cx="10287000" cy="6035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AB40"/>
                </a:solidFill>
                <a:latin typeface="Roboto Condensed"/>
              </a:rPr>
              <a:t>PROOF 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1014984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Roboto Condensed"/>
              </a:rPr>
              <a:t>Can we explain why an answer was produced—and know whether the next release is better?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291072"/>
            <a:ext cx="5486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B4BEC2"/>
                </a:solidFill>
                <a:latin typeface="Roboto Condensed"/>
              </a:rPr>
              <a:t>SERVIR GLOBAL RISK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777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380B0"/>
                </a:solidFill>
                <a:latin typeface="Roboto Condensed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978408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12121"/>
                </a:solidFill>
                <a:latin typeface="Roboto Condensed"/>
              </a:rPr>
              <a:t>A completed request can still be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914400" cy="41148"/>
          </a:xfrm>
          <a:prstGeom prst="rect">
            <a:avLst/>
          </a:prstGeom>
          <a:solidFill>
            <a:srgbClr val="23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rvir-global-collabor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274320"/>
            <a:ext cx="1627632" cy="2246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56848" y="6473952"/>
            <a:ext cx="29260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D6E71"/>
                </a:solidFill>
                <a:latin typeface="Roboto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47548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D6E71"/>
                </a:solidFill>
                <a:latin typeface="Roboto Condensed"/>
              </a:rPr>
              <a:t>SERVIR GLOBAL RISK PLATFORM ·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25880"/>
            <a:ext cx="484632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212121"/>
                </a:solidFill>
                <a:latin typeface="Roboto Condensed"/>
              </a:rPr>
              <a:t>A GRP answer crosses multiple components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38528"/>
            <a:ext cx="2971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938528"/>
            <a:ext cx="64008" cy="566928"/>
          </a:xfrm>
          <a:prstGeom prst="rect">
            <a:avLst/>
          </a:prstGeom>
          <a:solidFill>
            <a:srgbClr val="23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057400"/>
            <a:ext cx="27157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12121"/>
                </a:solidFill>
                <a:latin typeface="Roboto Condensed"/>
              </a:rPr>
              <a:t>Agent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350008"/>
            <a:ext cx="2715768" cy="822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95959"/>
                </a:solidFill>
                <a:latin typeface="Roboto"/>
              </a:rPr>
              <a:t>routing and decisions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94176" y="2221992"/>
            <a:ext cx="402336" cy="0"/>
          </a:xfrm>
          <a:prstGeom prst="line">
            <a:avLst/>
          </a:prstGeom>
          <a:ln w="17780">
            <a:solidFill>
              <a:srgbClr val="6D6E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58368" y="2670048"/>
            <a:ext cx="2971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670048"/>
            <a:ext cx="64008" cy="566928"/>
          </a:xfrm>
          <a:prstGeom prst="rect">
            <a:avLst/>
          </a:prstGeom>
          <a:solidFill>
            <a:srgbClr val="7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2788920"/>
            <a:ext cx="27157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12121"/>
                </a:solidFill>
                <a:latin typeface="Roboto Condensed"/>
              </a:rPr>
              <a:t>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081528"/>
            <a:ext cx="2715768" cy="822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95959"/>
                </a:solidFill>
                <a:latin typeface="Roboto"/>
              </a:rPr>
              <a:t>reasoning and generation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94176" y="2953512"/>
            <a:ext cx="402336" cy="0"/>
          </a:xfrm>
          <a:prstGeom prst="line">
            <a:avLst/>
          </a:prstGeom>
          <a:ln w="17780">
            <a:solidFill>
              <a:srgbClr val="6D6E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58368" y="3401568"/>
            <a:ext cx="2971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401568"/>
            <a:ext cx="64008" cy="566928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3520440"/>
            <a:ext cx="27157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12121"/>
                </a:solidFill>
                <a:latin typeface="Roboto Condensed"/>
              </a:rPr>
              <a:t>MCP / APIs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3813048"/>
            <a:ext cx="2715768" cy="822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95959"/>
                </a:solidFill>
                <a:latin typeface="Roboto"/>
              </a:rPr>
              <a:t>tools and external services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94176" y="3685032"/>
            <a:ext cx="402336" cy="0"/>
          </a:xfrm>
          <a:prstGeom prst="line">
            <a:avLst/>
          </a:prstGeom>
          <a:ln w="17780">
            <a:solidFill>
              <a:srgbClr val="6D6E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58368" y="4133088"/>
            <a:ext cx="2971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4133088"/>
            <a:ext cx="64008" cy="566928"/>
          </a:xfrm>
          <a:prstGeom prst="rect">
            <a:avLst/>
          </a:prstGeom>
          <a:solidFill>
            <a:srgbClr val="91A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4251960"/>
            <a:ext cx="27157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12121"/>
                </a:solidFill>
                <a:latin typeface="Roboto Condensed"/>
              </a:rPr>
              <a:t>Datasets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4544568"/>
            <a:ext cx="2715768" cy="822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95959"/>
                </a:solidFill>
                <a:latin typeface="Roboto"/>
              </a:rPr>
              <a:t>source and version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694176" y="4416552"/>
            <a:ext cx="402336" cy="0"/>
          </a:xfrm>
          <a:prstGeom prst="line">
            <a:avLst/>
          </a:prstGeom>
          <a:ln w="17780">
            <a:solidFill>
              <a:srgbClr val="6D6E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8368" y="4864608"/>
            <a:ext cx="2971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4864608"/>
            <a:ext cx="64008" cy="566928"/>
          </a:xfrm>
          <a:prstGeom prst="rect">
            <a:avLst/>
          </a:prstGeom>
          <a:solidFill>
            <a:srgbClr val="4A9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" y="4983480"/>
            <a:ext cx="27157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12121"/>
                </a:solidFill>
                <a:latin typeface="Roboto Condensed"/>
              </a:rPr>
              <a:t>GIS calculations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" y="5276088"/>
            <a:ext cx="2715768" cy="822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95959"/>
                </a:solidFill>
                <a:latin typeface="Roboto"/>
              </a:rPr>
              <a:t>method and outputs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24528" y="1371600"/>
            <a:ext cx="7333488" cy="4462272"/>
          </a:xfrm>
          <a:prstGeom prst="roundRect">
            <a:avLst/>
          </a:prstGeom>
          <a:solidFill>
            <a:srgbClr val="F1F7FA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53712" y="1673352"/>
            <a:ext cx="667512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95959"/>
                </a:solidFill>
                <a:latin typeface="Roboto"/>
              </a:rPr>
              <a:t>Normal application logs usually answer: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51392" y="1627632"/>
            <a:ext cx="2176272" cy="310896"/>
          </a:xfrm>
          <a:prstGeom prst="roundRect">
            <a:avLst/>
          </a:prstGeom>
          <a:solidFill>
            <a:srgbClr val="91A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51392" y="1636776"/>
            <a:ext cx="2176272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Roboto"/>
              </a:rPr>
              <a:t>REQUEST COMPLETED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3712" y="2148840"/>
            <a:ext cx="64008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12121"/>
                </a:solidFill>
                <a:latin typeface="Roboto Condensed"/>
              </a:rPr>
              <a:t>But they do not reliably explain: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53712" y="2606040"/>
            <a:ext cx="6446520" cy="28803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C94F3C"/>
                </a:solidFill>
              </a:rPr>
              <a:t>●  </a:t>
            </a:r>
            <a:r>
              <a:rPr sz="1500" b="1">
                <a:solidFill>
                  <a:srgbClr val="212121"/>
                </a:solidFill>
                <a:latin typeface="Roboto"/>
              </a:rPr>
              <a:t>Why </a:t>
            </a:r>
            <a:r>
              <a:rPr sz="1500">
                <a:solidFill>
                  <a:srgbClr val="595959"/>
                </a:solidFill>
                <a:latin typeface="Roboto"/>
              </a:rPr>
              <a:t>the agent produced that answer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C94F3C"/>
                </a:solidFill>
              </a:rPr>
              <a:t>●  </a:t>
            </a:r>
            <a:r>
              <a:rPr sz="1500" b="1">
                <a:solidFill>
                  <a:srgbClr val="212121"/>
                </a:solidFill>
                <a:latin typeface="Roboto"/>
              </a:rPr>
              <a:t>Which </a:t>
            </a:r>
            <a:r>
              <a:rPr sz="1500">
                <a:solidFill>
                  <a:srgbClr val="595959"/>
                </a:solidFill>
                <a:latin typeface="Roboto"/>
              </a:rPr>
              <a:t>data, model, prompt and tools it used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C94F3C"/>
                </a:solidFill>
              </a:rPr>
              <a:t>●  </a:t>
            </a:r>
            <a:r>
              <a:rPr sz="1500" b="1">
                <a:solidFill>
                  <a:srgbClr val="212121"/>
                </a:solidFill>
                <a:latin typeface="Roboto"/>
              </a:rPr>
              <a:t>Where </a:t>
            </a:r>
            <a:r>
              <a:rPr sz="1500">
                <a:solidFill>
                  <a:srgbClr val="595959"/>
                </a:solidFill>
                <a:latin typeface="Roboto"/>
              </a:rPr>
              <a:t>an incorrect result originated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C94F3C"/>
                </a:solidFill>
              </a:rPr>
              <a:t>●  </a:t>
            </a:r>
            <a:r>
              <a:rPr sz="1500" b="1">
                <a:solidFill>
                  <a:srgbClr val="212121"/>
                </a:solidFill>
                <a:latin typeface="Roboto"/>
              </a:rPr>
              <a:t>Whether </a:t>
            </a:r>
            <a:r>
              <a:rPr sz="1500">
                <a:solidFill>
                  <a:srgbClr val="595959"/>
                </a:solidFill>
                <a:latin typeface="Roboto"/>
              </a:rPr>
              <a:t>a new version performs better or worse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C94F3C"/>
                </a:solidFill>
              </a:rPr>
              <a:t>●  </a:t>
            </a:r>
            <a:r>
              <a:rPr sz="1500" b="1">
                <a:solidFill>
                  <a:srgbClr val="212121"/>
                </a:solidFill>
                <a:latin typeface="Roboto"/>
              </a:rPr>
              <a:t>How much </a:t>
            </a:r>
            <a:r>
              <a:rPr sz="1500">
                <a:solidFill>
                  <a:srgbClr val="595959"/>
                </a:solidFill>
                <a:latin typeface="Roboto"/>
              </a:rPr>
              <a:t>each request costs and how long it takes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777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380B0"/>
                </a:solidFill>
                <a:latin typeface="Roboto Condensed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978408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12121"/>
                </a:solidFill>
                <a:latin typeface="Roboto Condensed"/>
              </a:rPr>
              <a:t>Observe the complete path from question to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914400" cy="41148"/>
          </a:xfrm>
          <a:prstGeom prst="rect">
            <a:avLst/>
          </a:prstGeom>
          <a:solidFill>
            <a:srgbClr val="23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rvir-global-collabor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274320"/>
            <a:ext cx="1627632" cy="2246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56848" y="6473952"/>
            <a:ext cx="29260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D6E71"/>
                </a:solidFill>
                <a:latin typeface="Roboto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47548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D6E71"/>
                </a:solidFill>
                <a:latin typeface="Roboto Condensed"/>
              </a:rPr>
              <a:t>SERVIR GLOBAL RISK PLATFORM ·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07592"/>
            <a:ext cx="1060704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595959"/>
                </a:solidFill>
                <a:latin typeface="Roboto"/>
              </a:rPr>
              <a:t>Request-level observability connects workflow behaviour, evidence provenance and quality evaluation.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01952"/>
            <a:ext cx="2542032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9536" y="2121408"/>
            <a:ext cx="914400" cy="310896"/>
          </a:xfrm>
          <a:prstGeom prst="roundRect">
            <a:avLst/>
          </a:prstGeom>
          <a:solidFill>
            <a:srgbClr val="23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130551"/>
            <a:ext cx="9144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Roboto"/>
              </a:rPr>
              <a:t>TRACE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587752"/>
            <a:ext cx="2121408" cy="5760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12121"/>
                </a:solidFill>
                <a:latin typeface="Roboto Condensed"/>
              </a:rPr>
              <a:t>End-to-end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337560"/>
            <a:ext cx="214884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95959"/>
                </a:solidFill>
                <a:latin typeface="Roboto"/>
              </a:rPr>
              <a:t>• LangGraph steps and decisions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840480"/>
            <a:ext cx="214884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95959"/>
                </a:solidFill>
                <a:latin typeface="Roboto"/>
              </a:rPr>
              <a:t>• MCP/API inputs and outputs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343400"/>
            <a:ext cx="214884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95959"/>
                </a:solidFill>
                <a:latin typeface="Roboto"/>
              </a:rPr>
              <a:t>• Errors and latency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1901952"/>
            <a:ext cx="2542032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30168" y="2121408"/>
            <a:ext cx="914400" cy="310896"/>
          </a:xfrm>
          <a:prstGeom prst="roundRect">
            <a:avLst/>
          </a:prstGeom>
          <a:solidFill>
            <a:srgbClr val="7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0168" y="2130551"/>
            <a:ext cx="9144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Roboto"/>
              </a:rPr>
              <a:t>VERSION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2587752"/>
            <a:ext cx="2121408" cy="5760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12121"/>
                </a:solidFill>
                <a:latin typeface="Roboto Condensed"/>
              </a:rPr>
              <a:t>Prompts, models and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3337560"/>
            <a:ext cx="214884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95959"/>
                </a:solidFill>
                <a:latin typeface="Roboto"/>
              </a:rPr>
              <a:t>• Prompt and model versions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3840480"/>
            <a:ext cx="214884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95959"/>
                </a:solidFill>
                <a:latin typeface="Roboto"/>
              </a:rPr>
              <a:t>• Dataset and calculation provenance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0168" y="4343400"/>
            <a:ext cx="214884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95959"/>
                </a:solidFill>
                <a:latin typeface="Roboto"/>
              </a:rPr>
              <a:t>• Tool configuration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1" y="1901952"/>
            <a:ext cx="2542032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799" y="2121408"/>
            <a:ext cx="914400" cy="310896"/>
          </a:xfrm>
          <a:prstGeom prst="roundRect">
            <a:avLst/>
          </a:prstGeom>
          <a:solidFill>
            <a:srgbClr val="91A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799" y="2130551"/>
            <a:ext cx="9144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Roboto"/>
              </a:rPr>
              <a:t>MEASURE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799" y="2587752"/>
            <a:ext cx="2121408" cy="5760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12121"/>
                </a:solidFill>
                <a:latin typeface="Roboto Condensed"/>
              </a:rPr>
              <a:t>Usage and 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799" y="3337560"/>
            <a:ext cx="214884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95959"/>
                </a:solidFill>
                <a:latin typeface="Roboto"/>
              </a:rPr>
              <a:t>• Tokens, latency and cost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799" y="3840480"/>
            <a:ext cx="214884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95959"/>
                </a:solidFill>
                <a:latin typeface="Roboto"/>
              </a:rPr>
              <a:t>• Golden-question scores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799" y="4343400"/>
            <a:ext cx="214884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95959"/>
                </a:solidFill>
                <a:latin typeface="Roboto"/>
              </a:rPr>
              <a:t>• User feedback and alerts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70264" y="1901952"/>
            <a:ext cx="2542032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171432" y="2121408"/>
            <a:ext cx="914400" cy="310896"/>
          </a:xfrm>
          <a:prstGeom prst="round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71432" y="2130551"/>
            <a:ext cx="9144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Roboto"/>
              </a:rPr>
              <a:t>GOVERN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71432" y="2587752"/>
            <a:ext cx="2121408" cy="5760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12121"/>
                </a:solidFill>
                <a:latin typeface="Roboto Condensed"/>
              </a:rPr>
              <a:t>Access and audit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71432" y="3337560"/>
            <a:ext cx="214884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95959"/>
                </a:solidFill>
                <a:latin typeface="Roboto"/>
              </a:rPr>
              <a:t>• Masking and retention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71432" y="3840480"/>
            <a:ext cx="214884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95959"/>
                </a:solidFill>
                <a:latin typeface="Roboto"/>
              </a:rPr>
              <a:t>• Role-based access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1432" y="4343400"/>
            <a:ext cx="214884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95959"/>
                </a:solidFill>
                <a:latin typeface="Roboto"/>
              </a:rPr>
              <a:t>• Investigation history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413248"/>
            <a:ext cx="10844784" cy="566928"/>
          </a:xfrm>
          <a:prstGeom prst="roundRect">
            <a:avLst/>
          </a:prstGeom>
          <a:solidFill>
            <a:srgbClr val="F1F7FA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5541264"/>
            <a:ext cx="104698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380B0"/>
                </a:solidFill>
                <a:latin typeface="Roboto"/>
              </a:rPr>
              <a:t>One trace ID links the user request, workflow steps, generations, tools, evidence and evaluation scores.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777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380B0"/>
                </a:solidFill>
                <a:latin typeface="Roboto Condensed"/>
              </a:rPr>
              <a:t>TRACE 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978408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12121"/>
                </a:solidFill>
                <a:latin typeface="Roboto Condensed"/>
              </a:rPr>
              <a:t>What one observable GRP request looks like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914400" cy="41148"/>
          </a:xfrm>
          <a:prstGeom prst="rect">
            <a:avLst/>
          </a:prstGeom>
          <a:solidFill>
            <a:srgbClr val="23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rvir-global-collabor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274320"/>
            <a:ext cx="1627632" cy="2246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56848" y="6473952"/>
            <a:ext cx="29260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D6E71"/>
                </a:solidFill>
                <a:latin typeface="Roboto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47548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D6E71"/>
                </a:solidFill>
                <a:latin typeface="Roboto Condensed"/>
              </a:rPr>
              <a:t>SERVIR GLOBAL RISK PLATFORM ·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61872"/>
            <a:ext cx="98755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12121"/>
                </a:solidFill>
                <a:latin typeface="Roboto Condensed"/>
              </a:rPr>
              <a:t>Example: “Why prioritise populations farther than 1 km from candidate shelters?”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4831"/>
            <a:ext cx="184708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7512" y="2240280"/>
            <a:ext cx="365760" cy="365760"/>
          </a:xfrm>
          <a:prstGeom prst="ellipse">
            <a:avLst/>
          </a:prstGeom>
          <a:solidFill>
            <a:srgbClr val="23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267712"/>
            <a:ext cx="365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2185416"/>
            <a:ext cx="10972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380B0"/>
                </a:solidFill>
                <a:latin typeface="Roboto Condensed"/>
              </a:rPr>
              <a:t>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624328"/>
            <a:ext cx="157276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95959"/>
                </a:solidFill>
                <a:latin typeface="Roboto"/>
              </a:rPr>
              <a:t>AOI · scenario · access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23160" y="2651760"/>
            <a:ext cx="228600" cy="0"/>
          </a:xfrm>
          <a:prstGeom prst="line">
            <a:avLst/>
          </a:prstGeom>
          <a:ln w="19050">
            <a:solidFill>
              <a:srgbClr val="6D6E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697480" y="2084831"/>
            <a:ext cx="184708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816352" y="2240280"/>
            <a:ext cx="365760" cy="365760"/>
          </a:xfrm>
          <a:prstGeom prst="ellipse">
            <a:avLst/>
          </a:prstGeom>
          <a:solidFill>
            <a:srgbClr val="91A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16352" y="2267712"/>
            <a:ext cx="365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82696" y="2185416"/>
            <a:ext cx="10972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91AF3D"/>
                </a:solidFill>
                <a:latin typeface="Roboto Condensed"/>
              </a:rPr>
              <a:t>RETRIEVE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25496" y="2624328"/>
            <a:ext cx="157276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95959"/>
                </a:solidFill>
                <a:latin typeface="Roboto"/>
              </a:rPr>
              <a:t>evidence IDs · versions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00" y="2651760"/>
            <a:ext cx="228600" cy="0"/>
          </a:xfrm>
          <a:prstGeom prst="line">
            <a:avLst/>
          </a:prstGeom>
          <a:ln w="19050">
            <a:solidFill>
              <a:srgbClr val="6D6E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846320" y="2084831"/>
            <a:ext cx="184708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65192" y="2240280"/>
            <a:ext cx="365760" cy="365760"/>
          </a:xfrm>
          <a:prstGeom prst="ellipse">
            <a:avLst/>
          </a:prstGeom>
          <a:solidFill>
            <a:srgbClr val="4A9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65192" y="2267712"/>
            <a:ext cx="365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31536" y="2185416"/>
            <a:ext cx="10972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A9ADA"/>
                </a:solidFill>
                <a:latin typeface="Roboto Condensed"/>
              </a:rPr>
              <a:t>CALCULATE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74336" y="2624328"/>
            <a:ext cx="157276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95959"/>
                </a:solidFill>
                <a:latin typeface="Roboto"/>
              </a:rPr>
              <a:t>method · parameters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20840" y="2651760"/>
            <a:ext cx="228600" cy="0"/>
          </a:xfrm>
          <a:prstGeom prst="line">
            <a:avLst/>
          </a:prstGeom>
          <a:ln w="19050">
            <a:solidFill>
              <a:srgbClr val="6D6E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995160" y="2084831"/>
            <a:ext cx="184708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14032" y="2240280"/>
            <a:ext cx="365760" cy="365760"/>
          </a:xfrm>
          <a:prstGeom prst="ellipse">
            <a:avLst/>
          </a:prstGeom>
          <a:solidFill>
            <a:srgbClr val="7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14032" y="2267712"/>
            <a:ext cx="365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0376" y="2185416"/>
            <a:ext cx="10972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04090"/>
                </a:solidFill>
                <a:latin typeface="Roboto Condensed"/>
              </a:rPr>
              <a:t>GENERATE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23176" y="2624328"/>
            <a:ext cx="157276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95959"/>
                </a:solidFill>
                <a:latin typeface="Roboto"/>
              </a:rPr>
              <a:t>prompt · model · tokens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869680" y="2651760"/>
            <a:ext cx="228600" cy="0"/>
          </a:xfrm>
          <a:prstGeom prst="line">
            <a:avLst/>
          </a:prstGeom>
          <a:ln w="19050">
            <a:solidFill>
              <a:srgbClr val="6D6E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144000" y="2084831"/>
            <a:ext cx="184708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262872" y="2240280"/>
            <a:ext cx="365760" cy="365760"/>
          </a:xfrm>
          <a:prstGeom prst="ellipse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62872" y="2267712"/>
            <a:ext cx="365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29216" y="2185416"/>
            <a:ext cx="10972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AB40"/>
                </a:solidFill>
                <a:latin typeface="Roboto Condensed"/>
              </a:rPr>
              <a:t>CHECK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72016" y="2624328"/>
            <a:ext cx="157276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95959"/>
                </a:solidFill>
                <a:latin typeface="Roboto"/>
              </a:rPr>
              <a:t>citations · limitations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3703320"/>
            <a:ext cx="10844784" cy="1627632"/>
          </a:xfrm>
          <a:prstGeom prst="roundRect">
            <a:avLst/>
          </a:prstGeom>
          <a:solidFill>
            <a:srgbClr val="F1F7FA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" y="3931920"/>
            <a:ext cx="21945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380B0"/>
                </a:solidFill>
                <a:latin typeface="Roboto Condensed"/>
              </a:rPr>
              <a:t>LANGFUSE TRACE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" y="4343400"/>
            <a:ext cx="141732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212121"/>
                </a:solidFill>
                <a:latin typeface="Roboto Condensed"/>
              </a:rPr>
              <a:t>2.8 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" y="4727448"/>
            <a:ext cx="14173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D6E71"/>
                </a:solidFill>
                <a:latin typeface="Roboto"/>
              </a:rPr>
              <a:t>total latency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15184" y="4343400"/>
            <a:ext cx="141732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212121"/>
                </a:solidFill>
                <a:latin typeface="Roboto Condensed"/>
              </a:rPr>
              <a:t>1,420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15184" y="4727448"/>
            <a:ext cx="14173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D6E71"/>
                </a:solidFill>
                <a:latin typeface="Roboto"/>
              </a:rPr>
              <a:t>input tokens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34256" y="4343400"/>
            <a:ext cx="141732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212121"/>
                </a:solidFill>
                <a:latin typeface="Roboto Condensed"/>
              </a:rPr>
              <a:t>286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34256" y="4727448"/>
            <a:ext cx="14173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D6E71"/>
                </a:solidFill>
                <a:latin typeface="Roboto"/>
              </a:rPr>
              <a:t>output tokens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53327" y="4343400"/>
            <a:ext cx="141732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212121"/>
                </a:solidFill>
                <a:latin typeface="Roboto Condensed"/>
              </a:rPr>
              <a:t>$0.006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53327" y="4727448"/>
            <a:ext cx="14173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D6E71"/>
                </a:solidFill>
                <a:latin typeface="Roboto"/>
              </a:rPr>
              <a:t>estimated cost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4343400"/>
            <a:ext cx="141732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212121"/>
                </a:solidFill>
                <a:latin typeface="Roboto Condensed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4727448"/>
            <a:ext cx="14173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D6E71"/>
                </a:solidFill>
                <a:latin typeface="Roboto"/>
              </a:rPr>
              <a:t>evidence records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91472" y="4343400"/>
            <a:ext cx="141732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212121"/>
                </a:solidFill>
                <a:latin typeface="Roboto Condensed"/>
              </a:rPr>
              <a:t>PASS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91472" y="4727448"/>
            <a:ext cx="14173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D6E71"/>
                </a:solidFill>
                <a:latin typeface="Roboto"/>
              </a:rPr>
              <a:t>citation check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" y="5614416"/>
            <a:ext cx="1078992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380B0"/>
                </a:solidFill>
                <a:latin typeface="Roboto"/>
              </a:rPr>
              <a:t>Observation-first: evaluate the logical root for the final answer, retrieval observations for relevance, and generation observations for groundedness.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777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380B0"/>
                </a:solidFill>
                <a:latin typeface="Roboto Condensed"/>
              </a:rPr>
              <a:t>EVALUATION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978408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12121"/>
                </a:solidFill>
                <a:latin typeface="Roboto Condensed"/>
              </a:rPr>
              <a:t>Use the cheapest reliable evaluator for each failure mode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914400" cy="41148"/>
          </a:xfrm>
          <a:prstGeom prst="rect">
            <a:avLst/>
          </a:prstGeom>
          <a:solidFill>
            <a:srgbClr val="23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rvir-global-collabor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274320"/>
            <a:ext cx="1627632" cy="2246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56848" y="6473952"/>
            <a:ext cx="29260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D6E71"/>
                </a:solidFill>
                <a:latin typeface="Roboto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47548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D6E71"/>
                </a:solidFill>
                <a:latin typeface="Roboto Condensed"/>
              </a:rPr>
              <a:t>SERVIR GLOBAL RISK PLATFORM ·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80160"/>
            <a:ext cx="1042416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95959"/>
                </a:solidFill>
                <a:latin typeface="Roboto"/>
              </a:rPr>
              <a:t>Do not ask one “God Evaluator” to produce a vague quality score. Split checks so every failure tells us what to fix.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47088"/>
            <a:ext cx="5193792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093976"/>
            <a:ext cx="1417320" cy="310896"/>
          </a:xfrm>
          <a:prstGeom prst="roundRect">
            <a:avLst/>
          </a:prstGeom>
          <a:solidFill>
            <a:srgbClr val="91A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Roboto"/>
              </a:rPr>
              <a:t>CODE 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78608"/>
            <a:ext cx="4526280" cy="420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212121"/>
                </a:solidFill>
                <a:latin typeface="Roboto Condensed"/>
              </a:rPr>
              <a:t>Deterministic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71800"/>
            <a:ext cx="452628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91AF3D"/>
                </a:solidFill>
                <a:latin typeface="Roboto"/>
              </a:rPr>
              <a:t>Exact · fast · cheap · repeatable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47288"/>
            <a:ext cx="4498848" cy="1463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91AF3D"/>
                </a:solidFill>
              </a:rPr>
              <a:t>●  </a:t>
            </a:r>
            <a:r>
              <a:rPr sz="1100" b="1">
                <a:solidFill>
                  <a:srgbClr val="212121"/>
                </a:solidFill>
                <a:latin typeface="Roboto"/>
              </a:rPr>
              <a:t>Figures match: </a:t>
            </a:r>
            <a:r>
              <a:rPr sz="1100">
                <a:solidFill>
                  <a:srgbClr val="595959"/>
                </a:solidFill>
                <a:latin typeface="Roboto"/>
              </a:rPr>
              <a:t>assessment values equal the expected output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91AF3D"/>
                </a:solidFill>
              </a:rPr>
              <a:t>●  </a:t>
            </a:r>
            <a:r>
              <a:rPr sz="1100" b="1">
                <a:solidFill>
                  <a:srgbClr val="212121"/>
                </a:solidFill>
                <a:latin typeface="Roboto"/>
              </a:rPr>
              <a:t>Evidence exists: </a:t>
            </a:r>
            <a:r>
              <a:rPr sz="1100">
                <a:solidFill>
                  <a:srgbClr val="595959"/>
                </a:solidFill>
                <a:latin typeface="Roboto"/>
              </a:rPr>
              <a:t>every citation ID and version resolves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91AF3D"/>
                </a:solidFill>
              </a:rPr>
              <a:t>●  </a:t>
            </a:r>
            <a:r>
              <a:rPr sz="1100" b="1">
                <a:solidFill>
                  <a:srgbClr val="212121"/>
                </a:solidFill>
                <a:latin typeface="Roboto"/>
              </a:rPr>
              <a:t>Schema valid: </a:t>
            </a:r>
            <a:r>
              <a:rPr sz="1100">
                <a:solidFill>
                  <a:srgbClr val="595959"/>
                </a:solidFill>
                <a:latin typeface="Roboto"/>
              </a:rPr>
              <a:t>required fields and types are present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91AF3D"/>
                </a:solidFill>
              </a:rPr>
              <a:t>●  </a:t>
            </a:r>
            <a:r>
              <a:rPr sz="1100" b="1">
                <a:solidFill>
                  <a:srgbClr val="212121"/>
                </a:solidFill>
                <a:latin typeface="Roboto"/>
              </a:rPr>
              <a:t>Limitations present: </a:t>
            </a:r>
            <a:r>
              <a:rPr sz="1100">
                <a:solidFill>
                  <a:srgbClr val="595959"/>
                </a:solidFill>
                <a:latin typeface="Roboto"/>
              </a:rPr>
              <a:t>mandatory safety statements are included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9048" y="1847088"/>
            <a:ext cx="5404104" cy="3401568"/>
          </a:xfrm>
          <a:prstGeom prst="roundRect">
            <a:avLst/>
          </a:prstGeom>
          <a:solidFill>
            <a:srgbClr val="F1F7FA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55080" y="2093976"/>
            <a:ext cx="1536192" cy="310896"/>
          </a:xfrm>
          <a:prstGeom prst="roundRect">
            <a:avLst/>
          </a:prstGeom>
          <a:solidFill>
            <a:srgbClr val="7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103120"/>
            <a:ext cx="1536192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Roboto"/>
              </a:rPr>
              <a:t>LLM JUDGES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578608"/>
            <a:ext cx="4590288" cy="420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212121"/>
                </a:solidFill>
                <a:latin typeface="Roboto Condensed"/>
              </a:rPr>
              <a:t>Narrow judgment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71800"/>
            <a:ext cx="4590288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04090"/>
                </a:solidFill>
                <a:latin typeface="Roboto"/>
              </a:rPr>
              <a:t>One criterion · reasoning first · verdict last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447288"/>
            <a:ext cx="46177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>
                <a:solidFill>
                  <a:srgbClr val="704090"/>
                </a:solidFill>
              </a:rPr>
              <a:t>●  </a:t>
            </a:r>
            <a:r>
              <a:rPr sz="1100" b="1">
                <a:solidFill>
                  <a:srgbClr val="212121"/>
                </a:solidFill>
                <a:latin typeface="Roboto"/>
              </a:rPr>
              <a:t>Groundedness: </a:t>
            </a:r>
            <a:r>
              <a:rPr sz="1100">
                <a:solidFill>
                  <a:srgbClr val="595959"/>
                </a:solidFill>
                <a:latin typeface="Roboto"/>
              </a:rPr>
              <a:t>are material claims supported by context?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704090"/>
                </a:solidFill>
              </a:rPr>
              <a:t>●  </a:t>
            </a:r>
            <a:r>
              <a:rPr sz="1100" b="1">
                <a:solidFill>
                  <a:srgbClr val="212121"/>
                </a:solidFill>
                <a:latin typeface="Roboto"/>
              </a:rPr>
              <a:t>Question relevance: </a:t>
            </a:r>
            <a:r>
              <a:rPr sz="1100">
                <a:solidFill>
                  <a:srgbClr val="595959"/>
                </a:solidFill>
                <a:latin typeface="Roboto"/>
              </a:rPr>
              <a:t>does the answer address the planner’s need?</a:t>
            </a:r>
          </a:p>
          <a:p>
            <a:pPr>
              <a:spcAft>
                <a:spcPts val="500"/>
              </a:spcAft>
            </a:pPr>
            <a:r>
              <a:rPr sz="900">
                <a:solidFill>
                  <a:srgbClr val="704090"/>
                </a:solidFill>
              </a:rPr>
              <a:t>●  </a:t>
            </a:r>
            <a:r>
              <a:rPr sz="1100" b="1">
                <a:solidFill>
                  <a:srgbClr val="212121"/>
                </a:solidFill>
                <a:latin typeface="Roboto"/>
              </a:rPr>
              <a:t>Action usefulness: </a:t>
            </a:r>
            <a:r>
              <a:rPr sz="1100">
                <a:solidFill>
                  <a:srgbClr val="595959"/>
                </a:solidFill>
                <a:latin typeface="Roboto"/>
              </a:rPr>
              <a:t>are proposed actions relevant and usable?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504688"/>
            <a:ext cx="10844784" cy="475488"/>
          </a:xfrm>
          <a:prstGeom prst="roundRect">
            <a:avLst/>
          </a:prstGeom>
          <a:solidFill>
            <a:srgbClr val="F1F7FA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5605272"/>
            <a:ext cx="1044244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380B0"/>
                </a:solidFill>
                <a:latin typeface="Roboto"/>
              </a:rPr>
              <a:t>Preferred verdict:  pass  |  fail  |  unknown     ·     Grade outcomes in evidence—not claims in prose.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777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380B0"/>
                </a:solidFill>
                <a:latin typeface="Roboto Condensed"/>
              </a:rPr>
              <a:t>EVALUATOR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978408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12121"/>
                </a:solidFill>
                <a:latin typeface="Roboto Condensed"/>
              </a:rPr>
              <a:t>Calibrate the judge before trusting the score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914400" cy="41148"/>
          </a:xfrm>
          <a:prstGeom prst="rect">
            <a:avLst/>
          </a:prstGeom>
          <a:solidFill>
            <a:srgbClr val="23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rvir-global-collabor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274320"/>
            <a:ext cx="1627632" cy="2246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56848" y="6473952"/>
            <a:ext cx="29260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D6E71"/>
                </a:solidFill>
                <a:latin typeface="Roboto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47548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D6E71"/>
                </a:solidFill>
                <a:latin typeface="Roboto Condensed"/>
              </a:rPr>
              <a:t>SERVIR GLOBAL RISK PLATFORM · PROPOSAL</a:t>
            </a:r>
          </a:p>
        </p:txBody>
      </p:sp>
      <p:sp>
        <p:nvSpPr>
          <p:cNvPr id="8" name="Oval 7"/>
          <p:cNvSpPr/>
          <p:nvPr/>
        </p:nvSpPr>
        <p:spPr>
          <a:xfrm>
            <a:off x="950976" y="1572768"/>
            <a:ext cx="530352" cy="530352"/>
          </a:xfrm>
          <a:prstGeom prst="ellipse">
            <a:avLst/>
          </a:prstGeom>
          <a:solidFill>
            <a:srgbClr val="23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682496"/>
            <a:ext cx="530352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267712"/>
            <a:ext cx="166420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12121"/>
                </a:solidFill>
                <a:latin typeface="Roboto Condensed"/>
              </a:rPr>
              <a:t>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596896"/>
            <a:ext cx="16642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595959"/>
                </a:solidFill>
                <a:latin typeface="Roboto"/>
              </a:rPr>
              <a:t>10–20 real cases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56816" y="1847088"/>
            <a:ext cx="292608" cy="0"/>
          </a:xfrm>
          <a:prstGeom prst="line">
            <a:avLst/>
          </a:prstGeom>
          <a:ln w="19050">
            <a:solidFill>
              <a:srgbClr val="D7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898648" y="1572768"/>
            <a:ext cx="530352" cy="530352"/>
          </a:xfrm>
          <a:prstGeom prst="ellipse">
            <a:avLst/>
          </a:prstGeom>
          <a:solidFill>
            <a:srgbClr val="91A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98648" y="1682496"/>
            <a:ext cx="530352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267712"/>
            <a:ext cx="166420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12121"/>
                </a:solidFill>
                <a:latin typeface="Roboto Condensed"/>
              </a:rPr>
              <a:t>DEFINE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2596896"/>
            <a:ext cx="16642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595959"/>
                </a:solidFill>
                <a:latin typeface="Roboto"/>
              </a:rPr>
              <a:t>one precise criterion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04487" y="1847088"/>
            <a:ext cx="292609" cy="0"/>
          </a:xfrm>
          <a:prstGeom prst="line">
            <a:avLst/>
          </a:prstGeom>
          <a:ln w="19050">
            <a:solidFill>
              <a:srgbClr val="D7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846320" y="1572768"/>
            <a:ext cx="530352" cy="530352"/>
          </a:xfrm>
          <a:prstGeom prst="ellipse">
            <a:avLst/>
          </a:prstGeom>
          <a:solidFill>
            <a:srgbClr val="7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1682496"/>
            <a:ext cx="530352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9392" y="2267712"/>
            <a:ext cx="166420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12121"/>
                </a:solidFill>
                <a:latin typeface="Roboto Condensed"/>
              </a:rPr>
              <a:t>PROMPT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9392" y="2596896"/>
            <a:ext cx="16642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595959"/>
                </a:solidFill>
                <a:latin typeface="Roboto"/>
              </a:rPr>
              <a:t>context + ignore rules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52159" y="1847088"/>
            <a:ext cx="292609" cy="0"/>
          </a:xfrm>
          <a:prstGeom prst="line">
            <a:avLst/>
          </a:prstGeom>
          <a:ln w="19050">
            <a:solidFill>
              <a:srgbClr val="D7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793992" y="1572768"/>
            <a:ext cx="530352" cy="530352"/>
          </a:xfrm>
          <a:prstGeom prst="ellipse">
            <a:avLst/>
          </a:prstGeom>
          <a:solidFill>
            <a:srgbClr val="4A9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93992" y="1682496"/>
            <a:ext cx="530352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7064" y="2267712"/>
            <a:ext cx="166420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12121"/>
                </a:solidFill>
                <a:latin typeface="Roboto Condensed"/>
              </a:rPr>
              <a:t>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27064" y="2596896"/>
            <a:ext cx="16642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595959"/>
                </a:solidFill>
                <a:latin typeface="Roboto"/>
              </a:rPr>
              <a:t>held-out labels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99831" y="1847088"/>
            <a:ext cx="292609" cy="0"/>
          </a:xfrm>
          <a:prstGeom prst="line">
            <a:avLst/>
          </a:prstGeom>
          <a:ln w="19050">
            <a:solidFill>
              <a:srgbClr val="D7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8741663" y="1572768"/>
            <a:ext cx="530352" cy="530352"/>
          </a:xfrm>
          <a:prstGeom prst="ellipse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41663" y="1682496"/>
            <a:ext cx="530352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4736" y="2267712"/>
            <a:ext cx="166420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12121"/>
                </a:solidFill>
                <a:latin typeface="Roboto Condensed"/>
              </a:rPr>
              <a:t>COMPARE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4736" y="2596896"/>
            <a:ext cx="16642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595959"/>
                </a:solidFill>
                <a:latin typeface="Roboto"/>
              </a:rPr>
              <a:t>agreement by class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747504" y="1847088"/>
            <a:ext cx="292608" cy="0"/>
          </a:xfrm>
          <a:prstGeom prst="line">
            <a:avLst/>
          </a:prstGeom>
          <a:ln w="19050">
            <a:solidFill>
              <a:srgbClr val="D7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0689335" y="1572768"/>
            <a:ext cx="530352" cy="530352"/>
          </a:xfrm>
          <a:prstGeom prst="ellipse">
            <a:avLst/>
          </a:prstGeom>
          <a:solidFill>
            <a:srgbClr val="23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89335" y="1682496"/>
            <a:ext cx="530352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22407" y="2267712"/>
            <a:ext cx="166420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12121"/>
                </a:solidFill>
                <a:latin typeface="Roboto Condensed"/>
              </a:rPr>
              <a:t>ITERATE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22407" y="2596896"/>
            <a:ext cx="16642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595959"/>
                </a:solidFill>
                <a:latin typeface="Roboto"/>
              </a:rPr>
              <a:t>review disagreements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3246120"/>
            <a:ext cx="5175504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14400" y="3493008"/>
            <a:ext cx="1417320" cy="310896"/>
          </a:xfrm>
          <a:prstGeom prst="roundRect">
            <a:avLst/>
          </a:prstGeom>
          <a:solidFill>
            <a:srgbClr val="23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3502151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Roboto"/>
              </a:rPr>
              <a:t>OFFLINE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3931920"/>
            <a:ext cx="452628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12121"/>
                </a:solidFill>
                <a:latin typeface="Roboto Condensed"/>
              </a:rPr>
              <a:t>Experiments for release decisions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379976"/>
            <a:ext cx="4526280" cy="5120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Roboto"/>
              </a:rPr>
              <a:t>Run the same golden questions against baseline and candidate prompt, model or workflow versions.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9048" y="3246120"/>
            <a:ext cx="5404104" cy="1938528"/>
          </a:xfrm>
          <a:prstGeom prst="roundRect">
            <a:avLst/>
          </a:prstGeom>
          <a:solidFill>
            <a:srgbClr val="F1F7FA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355080" y="3493008"/>
            <a:ext cx="1417320" cy="310896"/>
          </a:xfrm>
          <a:prstGeom prst="roundRect">
            <a:avLst/>
          </a:prstGeom>
          <a:solidFill>
            <a:srgbClr val="91A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3502151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Roboto"/>
              </a:rPr>
              <a:t>ONLINE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3931920"/>
            <a:ext cx="461772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12121"/>
                </a:solidFill>
                <a:latin typeface="Roboto Condensed"/>
              </a:rPr>
              <a:t>Observation-level monitoring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4379976"/>
            <a:ext cx="4617720" cy="5120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Roboto"/>
              </a:rPr>
              <a:t>Evaluate targeted root, retrieval or generation observations; sample live traffic to control cost.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5440680"/>
            <a:ext cx="10844784" cy="530352"/>
          </a:xfrm>
          <a:prstGeom prst="roundRect">
            <a:avLst/>
          </a:prstGeom>
          <a:solidFill>
            <a:srgbClr val="FFF5E7"/>
          </a:solidFill>
          <a:ln w="12700"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9536" y="5568696"/>
            <a:ext cx="104241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94F3C"/>
                </a:solidFill>
                <a:latin typeface="Roboto"/>
              </a:rPr>
              <a:t>Warning: 90% overall agreement can hide a judge that always says “pass”. Validate pass, fail and unknown separately.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777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380B0"/>
                </a:solidFill>
                <a:latin typeface="Roboto Condensed"/>
              </a:rPr>
              <a:t>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978408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12121"/>
                </a:solidFill>
                <a:latin typeface="Roboto Condensed"/>
              </a:rPr>
              <a:t>One simple use case in the current prototype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914400" cy="41148"/>
          </a:xfrm>
          <a:prstGeom prst="rect">
            <a:avLst/>
          </a:prstGeom>
          <a:solidFill>
            <a:srgbClr val="23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rvir-global-collabor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274320"/>
            <a:ext cx="1627632" cy="2246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56848" y="6473952"/>
            <a:ext cx="29260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D6E71"/>
                </a:solidFill>
                <a:latin typeface="Roboto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47548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D6E71"/>
                </a:solidFill>
                <a:latin typeface="Roboto Condensed"/>
              </a:rPr>
              <a:t>SERVIR GLOBAL RISK PLATFORM · PROPOSAL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53312"/>
            <a:ext cx="10844784" cy="658368"/>
          </a:xfrm>
          <a:prstGeom prst="roundRect">
            <a:avLst/>
          </a:prstGeom>
          <a:solidFill>
            <a:srgbClr val="F1F7FA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17904"/>
            <a:ext cx="1033272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212121"/>
                </a:solidFill>
                <a:latin typeface="Roboto Condensed"/>
              </a:rPr>
              <a:t>“Why should areas farther than 1 km from candidate shelters be prioritised?”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468880"/>
            <a:ext cx="235915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468880"/>
            <a:ext cx="64008" cy="1024128"/>
          </a:xfrm>
          <a:prstGeom prst="rect">
            <a:avLst/>
          </a:prstGeom>
          <a:solidFill>
            <a:srgbClr val="23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587752"/>
            <a:ext cx="21031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12121"/>
                </a:solidFill>
                <a:latin typeface="Roboto Condensed"/>
              </a:rPr>
              <a:t>APP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880360"/>
            <a:ext cx="2103120" cy="5394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95959"/>
                </a:solidFill>
                <a:latin typeface="Roboto"/>
              </a:rPr>
              <a:t>18,640 exposed
11,240 beyond 1 km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99815" y="2971800"/>
            <a:ext cx="283465" cy="0"/>
          </a:xfrm>
          <a:prstGeom prst="line">
            <a:avLst/>
          </a:prstGeom>
          <a:ln w="19050">
            <a:solidFill>
              <a:srgbClr val="6D6E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74720" y="2468880"/>
            <a:ext cx="235915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0" y="2468880"/>
            <a:ext cx="64008" cy="1024128"/>
          </a:xfrm>
          <a:prstGeom prst="rect">
            <a:avLst/>
          </a:prstGeom>
          <a:solidFill>
            <a:srgbClr val="91A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9312" y="2587752"/>
            <a:ext cx="21031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12121"/>
                </a:solidFill>
                <a:latin typeface="Roboto Condensed"/>
              </a:rPr>
              <a:t>RETRIEVE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2880360"/>
            <a:ext cx="2103120" cy="5394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95959"/>
                </a:solidFill>
                <a:latin typeface="Roboto"/>
              </a:rPr>
              <a:t>3 governed
evidence records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61304" y="2971800"/>
            <a:ext cx="283464" cy="0"/>
          </a:xfrm>
          <a:prstGeom prst="line">
            <a:avLst/>
          </a:prstGeom>
          <a:ln w="19050">
            <a:solidFill>
              <a:srgbClr val="6D6E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36208" y="2468880"/>
            <a:ext cx="235915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2468880"/>
            <a:ext cx="64008" cy="1024128"/>
          </a:xfrm>
          <a:prstGeom prst="rect">
            <a:avLst/>
          </a:prstGeom>
          <a:solidFill>
            <a:srgbClr val="7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587752"/>
            <a:ext cx="21031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12121"/>
                </a:solidFill>
                <a:latin typeface="Roboto Condensed"/>
              </a:rPr>
              <a:t>OPENAI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880360"/>
            <a:ext cx="2103120" cy="5394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95959"/>
                </a:solidFill>
                <a:latin typeface="Roboto"/>
              </a:rPr>
              <a:t>planning explanation
with citations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22792" y="2971800"/>
            <a:ext cx="283464" cy="0"/>
          </a:xfrm>
          <a:prstGeom prst="line">
            <a:avLst/>
          </a:prstGeom>
          <a:ln w="19050">
            <a:solidFill>
              <a:srgbClr val="6D6E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97696" y="2468880"/>
            <a:ext cx="235915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97696" y="2468880"/>
            <a:ext cx="64008" cy="1024128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2587752"/>
            <a:ext cx="21031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12121"/>
                </a:solidFill>
                <a:latin typeface="Roboto Condensed"/>
              </a:rPr>
              <a:t>EVALUATE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2288" y="2880360"/>
            <a:ext cx="2103120" cy="5394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95959"/>
                </a:solidFill>
                <a:latin typeface="Roboto"/>
              </a:rPr>
              <a:t>code checks + narrow
judge verdicts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931920"/>
            <a:ext cx="44805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12121"/>
                </a:solidFill>
                <a:latin typeface="Roboto Condensed"/>
              </a:rPr>
              <a:t>Answer contract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315968"/>
            <a:ext cx="4892040" cy="1645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2380B0"/>
                </a:solidFill>
              </a:rPr>
              <a:t>●  </a:t>
            </a:r>
            <a:r>
              <a:rPr sz="1200">
                <a:solidFill>
                  <a:srgbClr val="595959"/>
                </a:solidFill>
                <a:latin typeface="Roboto"/>
              </a:rPr>
              <a:t>Short planning explanation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2380B0"/>
                </a:solidFill>
              </a:rPr>
              <a:t>●  </a:t>
            </a:r>
            <a:r>
              <a:rPr sz="1200">
                <a:solidFill>
                  <a:srgbClr val="595959"/>
                </a:solidFill>
                <a:latin typeface="Roboto"/>
              </a:rPr>
              <a:t>Reported figures with evidence IDs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2380B0"/>
                </a:solidFill>
              </a:rPr>
              <a:t>●  </a:t>
            </a:r>
            <a:r>
              <a:rPr sz="1200">
                <a:solidFill>
                  <a:srgbClr val="595959"/>
                </a:solidFill>
                <a:latin typeface="Roboto"/>
              </a:rPr>
              <a:t>Recommended follow-up actions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2380B0"/>
                </a:solidFill>
              </a:rPr>
              <a:t>●  </a:t>
            </a:r>
            <a:r>
              <a:rPr sz="1200">
                <a:solidFill>
                  <a:srgbClr val="595959"/>
                </a:solidFill>
                <a:latin typeface="Roboto"/>
              </a:rPr>
              <a:t>Explicit mocked-data and shelter limitations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3886200"/>
            <a:ext cx="5513832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36208" y="4133087"/>
            <a:ext cx="1810512" cy="310896"/>
          </a:xfrm>
          <a:prstGeom prst="roundRect">
            <a:avLst/>
          </a:prstGeom>
          <a:solidFill>
            <a:srgbClr val="91A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6208" y="4142231"/>
            <a:ext cx="1810512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Roboto"/>
              </a:rPr>
              <a:t>EVALUATION STACK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4581144"/>
            <a:ext cx="493776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12121"/>
                </a:solidFill>
                <a:latin typeface="Roboto Condensed"/>
              </a:rPr>
              <a:t>4 deterministic checks + 3 narrow judges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8" y="4965192"/>
            <a:ext cx="4937760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95959"/>
                </a:solidFill>
                <a:latin typeface="Roboto"/>
              </a:rPr>
              <a:t>Each score attaches to the relevant observation and explains exactly which failure mode passed, failed or was unknown.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777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380B0"/>
                </a:solidFill>
                <a:latin typeface="Roboto Condensed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978408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12121"/>
                </a:solidFill>
                <a:latin typeface="Roboto Condensed"/>
              </a:rPr>
              <a:t>Minimal architecture for the proof of concept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914400" cy="41148"/>
          </a:xfrm>
          <a:prstGeom prst="rect">
            <a:avLst/>
          </a:prstGeom>
          <a:solidFill>
            <a:srgbClr val="23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rvir-global-collabor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274320"/>
            <a:ext cx="1627632" cy="2246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56848" y="6473952"/>
            <a:ext cx="29260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D6E71"/>
                </a:solidFill>
                <a:latin typeface="Roboto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47548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D6E71"/>
                </a:solidFill>
                <a:latin typeface="Roboto Condensed"/>
              </a:rPr>
              <a:t>SERVIR GLOBAL RISK PLATFORM · PROPOSAL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72768"/>
            <a:ext cx="239572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72768"/>
            <a:ext cx="64008" cy="1097280"/>
          </a:xfrm>
          <a:prstGeom prst="rect">
            <a:avLst/>
          </a:prstGeom>
          <a:solidFill>
            <a:srgbClr val="23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691640"/>
            <a:ext cx="213969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12121"/>
                </a:solidFill>
                <a:latin typeface="Roboto Condensed"/>
              </a:rPr>
              <a:t>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84248"/>
            <a:ext cx="2139696" cy="6126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95959"/>
                </a:solidFill>
                <a:latin typeface="Roboto"/>
              </a:rPr>
              <a:t>Existing GRP prototype
Question + assessment context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26080" y="2121408"/>
            <a:ext cx="301752" cy="0"/>
          </a:xfrm>
          <a:prstGeom prst="line">
            <a:avLst/>
          </a:prstGeom>
          <a:ln w="19050">
            <a:solidFill>
              <a:srgbClr val="6D6E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19272" y="1572768"/>
            <a:ext cx="239572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9272" y="1572768"/>
            <a:ext cx="64008" cy="109728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3864" y="1691640"/>
            <a:ext cx="213969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12121"/>
                </a:solidFill>
                <a:latin typeface="Roboto Condensed"/>
              </a:rPr>
              <a:t>BACKEND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864" y="1984248"/>
            <a:ext cx="2139696" cy="6126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95959"/>
                </a:solidFill>
                <a:latin typeface="Roboto"/>
              </a:rPr>
              <a:t>Node.js service
Keys remain server-side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42431" y="2121408"/>
            <a:ext cx="301752" cy="0"/>
          </a:xfrm>
          <a:prstGeom prst="line">
            <a:avLst/>
          </a:prstGeom>
          <a:ln w="19050">
            <a:solidFill>
              <a:srgbClr val="6D6E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35624" y="1572768"/>
            <a:ext cx="239572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35624" y="1572768"/>
            <a:ext cx="64008" cy="1097280"/>
          </a:xfrm>
          <a:prstGeom prst="rect">
            <a:avLst/>
          </a:prstGeom>
          <a:solidFill>
            <a:srgbClr val="7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0216" y="1691640"/>
            <a:ext cx="213969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12121"/>
                </a:solidFill>
                <a:latin typeface="Roboto Condensed"/>
              </a:rPr>
              <a:t>LANGGRAPH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1984248"/>
            <a:ext cx="2139696" cy="6126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95959"/>
                </a:solidFill>
                <a:latin typeface="Roboto"/>
              </a:rPr>
              <a:t>Five-node workflow
Validate · retrieve · generate · check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558784" y="2121408"/>
            <a:ext cx="301752" cy="0"/>
          </a:xfrm>
          <a:prstGeom prst="line">
            <a:avLst/>
          </a:prstGeom>
          <a:ln w="19050">
            <a:solidFill>
              <a:srgbClr val="6D6E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951976" y="1572768"/>
            <a:ext cx="239572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51976" y="1572768"/>
            <a:ext cx="64008" cy="1097280"/>
          </a:xfrm>
          <a:prstGeom prst="rect">
            <a:avLst/>
          </a:prstGeom>
          <a:solidFill>
            <a:srgbClr val="91A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16568" y="1691640"/>
            <a:ext cx="213969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12121"/>
                </a:solidFill>
                <a:latin typeface="Roboto Condensed"/>
              </a:rPr>
              <a:t>OPENAI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8" y="1984248"/>
            <a:ext cx="2139696" cy="6126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95959"/>
                </a:solidFill>
                <a:latin typeface="Roboto"/>
              </a:rPr>
              <a:t>LLM provider
Answer + token usage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10128" y="3218688"/>
            <a:ext cx="5559552" cy="1188720"/>
          </a:xfrm>
          <a:prstGeom prst="roundRect">
            <a:avLst/>
          </a:prstGeom>
          <a:solidFill>
            <a:srgbClr val="F1F7FA"/>
          </a:solidFill>
          <a:ln w="12700">
            <a:solidFill>
              <a:srgbClr val="238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0" y="3447288"/>
            <a:ext cx="5029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380B0"/>
                </a:solidFill>
                <a:latin typeface="Roboto Condensed"/>
              </a:rPr>
              <a:t>LANGFUSE CLOUD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3794760"/>
            <a:ext cx="50292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12121"/>
                </a:solidFill>
                <a:latin typeface="Roboto"/>
              </a:rPr>
              <a:t>Root + operation observations · tokens · cost · evaluator scores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6089904" y="2724912"/>
            <a:ext cx="0" cy="420624"/>
          </a:xfrm>
          <a:prstGeom prst="line">
            <a:avLst/>
          </a:prstGeom>
          <a:ln w="25400">
            <a:solidFill>
              <a:srgbClr val="238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58368" y="4873752"/>
            <a:ext cx="10844784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5065776"/>
            <a:ext cx="19659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94F3C"/>
                </a:solidFill>
                <a:latin typeface="Roboto Condensed"/>
              </a:rPr>
              <a:t>PRIVATE ENVIRONMENT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4992624"/>
            <a:ext cx="81381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95959"/>
                </a:solidFill>
                <a:latin typeface="Roboto"/>
              </a:rPr>
              <a:t>OPENAI_API_KEY  ·  LANGFUSE_PUBLIC_KEY  ·  LANGFUSE_SECRET_KEY  ·  LANGFUSE_BASE_URL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888736"/>
            <a:ext cx="1056132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D6E71"/>
                </a:solidFill>
                <a:latin typeface="Roboto"/>
              </a:rPr>
              <a:t>No API keys in browser JavaScript or GitHub. No LangGraph API key is required.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777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380B0"/>
                </a:solidFill>
                <a:latin typeface="Roboto Condensed"/>
              </a:rPr>
              <a:t>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978408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12121"/>
                </a:solidFill>
                <a:latin typeface="Roboto Condensed"/>
              </a:rPr>
              <a:t>A five-minute team demonstration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914400" cy="41148"/>
          </a:xfrm>
          <a:prstGeom prst="rect">
            <a:avLst/>
          </a:prstGeom>
          <a:solidFill>
            <a:srgbClr val="23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rvir-global-collabor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274320"/>
            <a:ext cx="1627632" cy="2246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56848" y="6473952"/>
            <a:ext cx="29260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D6E71"/>
                </a:solidFill>
                <a:latin typeface="Roboto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47548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D6E71"/>
                </a:solidFill>
                <a:latin typeface="Roboto Condensed"/>
              </a:rPr>
              <a:t>SERVIR GLOBAL RISK PLATFORM · PROPOSAL</a:t>
            </a:r>
          </a:p>
        </p:txBody>
      </p:sp>
      <p:sp>
        <p:nvSpPr>
          <p:cNvPr id="8" name="Oval 7"/>
          <p:cNvSpPr/>
          <p:nvPr/>
        </p:nvSpPr>
        <p:spPr>
          <a:xfrm>
            <a:off x="713232" y="1325880"/>
            <a:ext cx="493776" cy="493776"/>
          </a:xfrm>
          <a:prstGeom prst="ellipse">
            <a:avLst/>
          </a:prstGeom>
          <a:solidFill>
            <a:srgbClr val="23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399032"/>
            <a:ext cx="493776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316736"/>
            <a:ext cx="3063240" cy="2651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12121"/>
                </a:solidFill>
                <a:latin typeface="Roboto Condensed"/>
              </a:rPr>
              <a:t>Run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636776"/>
            <a:ext cx="34290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Roboto"/>
              </a:rPr>
              <a:t>Select Phaya Thai · RP100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60120" y="1892807"/>
            <a:ext cx="0" cy="228601"/>
          </a:xfrm>
          <a:prstGeom prst="line">
            <a:avLst/>
          </a:prstGeom>
          <a:ln w="25400">
            <a:solidFill>
              <a:srgbClr val="D7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13232" y="2185415"/>
            <a:ext cx="493776" cy="493776"/>
          </a:xfrm>
          <a:prstGeom prst="ellipse">
            <a:avLst/>
          </a:prstGeom>
          <a:solidFill>
            <a:srgbClr val="23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58568"/>
            <a:ext cx="493776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176272"/>
            <a:ext cx="3063240" cy="2651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12121"/>
                </a:solidFill>
                <a:latin typeface="Roboto Condensed"/>
              </a:rPr>
              <a:t>Ask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496311"/>
            <a:ext cx="34290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Roboto"/>
              </a:rPr>
              <a:t>Generate planning explanation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0120" y="2752344"/>
            <a:ext cx="0" cy="228600"/>
          </a:xfrm>
          <a:prstGeom prst="line">
            <a:avLst/>
          </a:prstGeom>
          <a:ln w="25400">
            <a:solidFill>
              <a:srgbClr val="D7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13232" y="3044952"/>
            <a:ext cx="493776" cy="493776"/>
          </a:xfrm>
          <a:prstGeom prst="ellipse">
            <a:avLst/>
          </a:prstGeom>
          <a:solidFill>
            <a:srgbClr val="23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118104"/>
            <a:ext cx="493776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035808"/>
            <a:ext cx="3063240" cy="2651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12121"/>
                </a:solidFill>
                <a:latin typeface="Roboto Condensed"/>
              </a:rPr>
              <a:t>Inspect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355848"/>
            <a:ext cx="34290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Roboto"/>
              </a:rPr>
              <a:t>Figures · citations · limitations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0120" y="3611880"/>
            <a:ext cx="0" cy="228600"/>
          </a:xfrm>
          <a:prstGeom prst="line">
            <a:avLst/>
          </a:prstGeom>
          <a:ln w="25400">
            <a:solidFill>
              <a:srgbClr val="D7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13232" y="3904487"/>
            <a:ext cx="493776" cy="493776"/>
          </a:xfrm>
          <a:prstGeom prst="ellipse">
            <a:avLst/>
          </a:prstGeom>
          <a:solidFill>
            <a:srgbClr val="23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977639"/>
            <a:ext cx="493776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Roboto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895344"/>
            <a:ext cx="3063240" cy="2651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12121"/>
                </a:solidFill>
                <a:latin typeface="Roboto Condensed"/>
              </a:rPr>
              <a:t>Open Langfuse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215383"/>
            <a:ext cx="34290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Roboto"/>
              </a:rPr>
              <a:t>Root · retrieval · generation observations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60120" y="4471416"/>
            <a:ext cx="0" cy="228600"/>
          </a:xfrm>
          <a:prstGeom prst="line">
            <a:avLst/>
          </a:prstGeom>
          <a:ln w="25400">
            <a:solidFill>
              <a:srgbClr val="D7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13232" y="4764024"/>
            <a:ext cx="493776" cy="493776"/>
          </a:xfrm>
          <a:prstGeom prst="ellipse">
            <a:avLst/>
          </a:prstGeom>
          <a:solidFill>
            <a:srgbClr val="91A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4837176"/>
            <a:ext cx="493776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Roboto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4754880"/>
            <a:ext cx="3063240" cy="2651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12121"/>
                </a:solidFill>
                <a:latin typeface="Roboto Condensed"/>
              </a:rPr>
              <a:t>Compare runs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5074920"/>
            <a:ext cx="34290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Roboto"/>
              </a:rPr>
              <a:t>Code checks · judge verdicts · cost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0" y="1353312"/>
            <a:ext cx="6016752" cy="4169663"/>
          </a:xfrm>
          <a:prstGeom prst="roundRect">
            <a:avLst/>
          </a:prstGeom>
          <a:solidFill>
            <a:srgbClr val="F1F7FA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06440" y="1664208"/>
            <a:ext cx="534924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12121"/>
                </a:solidFill>
                <a:latin typeface="Roboto Condensed"/>
              </a:rPr>
              <a:t>What the team should see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2148840"/>
            <a:ext cx="5074920" cy="2926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2380B0"/>
                </a:solidFill>
              </a:rPr>
              <a:t>●  </a:t>
            </a:r>
            <a:r>
              <a:rPr sz="1400" b="1">
                <a:solidFill>
                  <a:srgbClr val="212121"/>
                </a:solidFill>
                <a:latin typeface="Roboto"/>
              </a:rPr>
              <a:t>Traceability: </a:t>
            </a:r>
            <a:r>
              <a:rPr sz="1400">
                <a:solidFill>
                  <a:srgbClr val="595959"/>
                </a:solidFill>
                <a:latin typeface="Roboto"/>
              </a:rPr>
              <a:t>every answer links to its workflow and evidence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380B0"/>
                </a:solidFill>
              </a:rPr>
              <a:t>●  </a:t>
            </a:r>
            <a:r>
              <a:rPr sz="1400" b="1">
                <a:solidFill>
                  <a:srgbClr val="212121"/>
                </a:solidFill>
                <a:latin typeface="Roboto"/>
              </a:rPr>
              <a:t>Diagnosis: </a:t>
            </a:r>
            <a:r>
              <a:rPr sz="1400">
                <a:solidFill>
                  <a:srgbClr val="595959"/>
                </a:solidFill>
                <a:latin typeface="Roboto"/>
              </a:rPr>
              <a:t>the failing component is visible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380B0"/>
                </a:solidFill>
              </a:rPr>
              <a:t>●  </a:t>
            </a:r>
            <a:r>
              <a:rPr sz="1400" b="1">
                <a:solidFill>
                  <a:srgbClr val="212121"/>
                </a:solidFill>
                <a:latin typeface="Roboto"/>
              </a:rPr>
              <a:t>Evaluation: </a:t>
            </a:r>
            <a:r>
              <a:rPr sz="1400">
                <a:solidFill>
                  <a:srgbClr val="595959"/>
                </a:solidFill>
                <a:latin typeface="Roboto"/>
              </a:rPr>
              <a:t>quality changes are measured, not assumed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380B0"/>
                </a:solidFill>
              </a:rPr>
              <a:t>●  </a:t>
            </a:r>
            <a:r>
              <a:rPr sz="1400" b="1">
                <a:solidFill>
                  <a:srgbClr val="212121"/>
                </a:solidFill>
                <a:latin typeface="Roboto"/>
              </a:rPr>
              <a:t>Economics: </a:t>
            </a:r>
            <a:r>
              <a:rPr sz="1400">
                <a:solidFill>
                  <a:srgbClr val="595959"/>
                </a:solidFill>
                <a:latin typeface="Roboto"/>
              </a:rPr>
              <a:t>latency, tokens and cost are explicit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380B0"/>
                </a:solidFill>
              </a:rPr>
              <a:t>●  </a:t>
            </a:r>
            <a:r>
              <a:rPr sz="1400" b="1">
                <a:solidFill>
                  <a:srgbClr val="212121"/>
                </a:solidFill>
                <a:latin typeface="Roboto"/>
              </a:rPr>
              <a:t>Governance: </a:t>
            </a:r>
            <a:r>
              <a:rPr sz="1400">
                <a:solidFill>
                  <a:srgbClr val="595959"/>
                </a:solidFill>
                <a:latin typeface="Roboto"/>
              </a:rPr>
              <a:t>access, masking and retention can be controlled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777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380B0"/>
                </a:solidFill>
                <a:latin typeface="Roboto Condensed"/>
              </a:rPr>
              <a:t>SUCCESS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978408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12121"/>
                </a:solidFill>
                <a:latin typeface="Roboto Condensed"/>
              </a:rPr>
              <a:t>What we want to prove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914400" cy="41148"/>
          </a:xfrm>
          <a:prstGeom prst="rect">
            <a:avLst/>
          </a:prstGeom>
          <a:solidFill>
            <a:srgbClr val="23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rvir-global-collabor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274320"/>
            <a:ext cx="1627632" cy="2246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56848" y="6473952"/>
            <a:ext cx="29260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D6E71"/>
                </a:solidFill>
                <a:latin typeface="Roboto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47548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D6E71"/>
                </a:solidFill>
                <a:latin typeface="Roboto Condensed"/>
              </a:rPr>
              <a:t>SERVIR GLOBAL RISK PLATFORM · PROPOSAL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298448"/>
            <a:ext cx="1084478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9536" y="1490472"/>
            <a:ext cx="1234440" cy="310896"/>
          </a:xfrm>
          <a:prstGeom prst="roundRect">
            <a:avLst/>
          </a:prstGeom>
          <a:solidFill>
            <a:srgbClr val="23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499616"/>
            <a:ext cx="12344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Roboto"/>
              </a:rPr>
              <a:t>REPRODUCE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453895"/>
            <a:ext cx="69951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12121"/>
                </a:solidFill>
                <a:latin typeface="Roboto Condensed"/>
              </a:rPr>
              <a:t>A reviewer can identify the exact prompt, model, evidence and tool versions behind an answer.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54896" y="1508760"/>
            <a:ext cx="171907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380B0"/>
                </a:solidFill>
                <a:latin typeface="Roboto"/>
              </a:rPr>
              <a:t>100% traced requests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231136"/>
            <a:ext cx="1084478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9536" y="2423160"/>
            <a:ext cx="1234440" cy="310896"/>
          </a:xfrm>
          <a:prstGeom prst="roundRect">
            <a:avLst/>
          </a:prstGeom>
          <a:solidFill>
            <a:srgbClr val="C94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2432303"/>
            <a:ext cx="12344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Roboto"/>
              </a:rPr>
              <a:t>DIAGNOSE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386584"/>
            <a:ext cx="69951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12121"/>
                </a:solidFill>
                <a:latin typeface="Roboto Condensed"/>
              </a:rPr>
              <a:t>A failed golden question can be traced to retrieval, calculation, tool or generation.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54896" y="2441448"/>
            <a:ext cx="171907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C94F3C"/>
                </a:solidFill>
                <a:latin typeface="Roboto"/>
              </a:rPr>
              <a:t>Cause found &lt; 10 min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163824"/>
            <a:ext cx="1084478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9536" y="3355848"/>
            <a:ext cx="1234440" cy="310896"/>
          </a:xfrm>
          <a:prstGeom prst="roundRect">
            <a:avLst/>
          </a:prstGeom>
          <a:solidFill>
            <a:srgbClr val="7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364991"/>
            <a:ext cx="12344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Roboto"/>
              </a:rPr>
              <a:t>COMPARE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3319272"/>
            <a:ext cx="69951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12121"/>
                </a:solidFill>
                <a:latin typeface="Roboto Condensed"/>
              </a:rPr>
              <a:t>Two workflow versions can be compared with the same calibrated question set and evaluators.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54896" y="3374136"/>
            <a:ext cx="171907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704090"/>
                </a:solidFill>
                <a:latin typeface="Roboto"/>
              </a:rPr>
              <a:t>No silent regression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096512"/>
            <a:ext cx="1084478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9536" y="4288536"/>
            <a:ext cx="1234440" cy="310896"/>
          </a:xfrm>
          <a:prstGeom prst="roundRect">
            <a:avLst/>
          </a:prstGeom>
          <a:solidFill>
            <a:srgbClr val="91A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4297680"/>
            <a:ext cx="12344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Roboto"/>
              </a:rPr>
              <a:t>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251960"/>
            <a:ext cx="69951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12121"/>
                </a:solidFill>
                <a:latin typeface="Roboto Condensed"/>
              </a:rPr>
              <a:t>The team can see and set expectations for latency, tokens and cost.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54896" y="4306824"/>
            <a:ext cx="171907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91AF3D"/>
                </a:solidFill>
                <a:latin typeface="Roboto"/>
              </a:rPr>
              <a:t>Cost/request visible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029200"/>
            <a:ext cx="1084478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59536" y="5221224"/>
            <a:ext cx="1234440" cy="310896"/>
          </a:xfrm>
          <a:prstGeom prst="round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5230368"/>
            <a:ext cx="12344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Roboto"/>
              </a:rPr>
              <a:t>GOVERN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5184648"/>
            <a:ext cx="69951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12121"/>
                </a:solidFill>
                <a:latin typeface="Roboto Condensed"/>
              </a:rPr>
              <a:t>Sensitive content is masked and traces follow access and retention policies.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54896" y="5239512"/>
            <a:ext cx="171907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AB40"/>
                </a:solidFill>
                <a:latin typeface="Roboto"/>
              </a:rPr>
              <a:t>Policy checks pass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777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380B0"/>
                </a:solidFill>
                <a:latin typeface="Roboto Condensed"/>
              </a:rP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978408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12121"/>
                </a:solidFill>
                <a:latin typeface="Roboto Condensed"/>
              </a:rPr>
              <a:t>Start small, prove value, then expand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914400" cy="41148"/>
          </a:xfrm>
          <a:prstGeom prst="rect">
            <a:avLst/>
          </a:prstGeom>
          <a:solidFill>
            <a:srgbClr val="23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rvir-global-collabor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274320"/>
            <a:ext cx="1627632" cy="2246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56848" y="6473952"/>
            <a:ext cx="29260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D6E71"/>
                </a:solidFill>
                <a:latin typeface="Roboto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47548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D6E71"/>
                </a:solidFill>
                <a:latin typeface="Roboto Condensed"/>
              </a:rPr>
              <a:t>SERVIR GLOBAL RISK PLATFORM ·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49834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12121"/>
                </a:solidFill>
                <a:latin typeface="Roboto Condensed"/>
              </a:rPr>
              <a:t>Expected 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09928"/>
            <a:ext cx="4983480" cy="35204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00">
                <a:solidFill>
                  <a:srgbClr val="2380B0"/>
                </a:solidFill>
              </a:rPr>
              <a:t>●  </a:t>
            </a:r>
            <a:r>
              <a:rPr sz="1300">
                <a:solidFill>
                  <a:srgbClr val="595959"/>
                </a:solidFill>
                <a:latin typeface="Roboto"/>
              </a:rPr>
              <a:t>Diagnose incorrect answers faster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2380B0"/>
                </a:solidFill>
              </a:rPr>
              <a:t>●  </a:t>
            </a:r>
            <a:r>
              <a:rPr sz="1300">
                <a:solidFill>
                  <a:srgbClr val="595959"/>
                </a:solidFill>
                <a:latin typeface="Roboto"/>
              </a:rPr>
              <a:t>Reproduce results and investigate failures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2380B0"/>
                </a:solidFill>
              </a:rPr>
              <a:t>●  </a:t>
            </a:r>
            <a:r>
              <a:rPr sz="1300">
                <a:solidFill>
                  <a:srgbClr val="595959"/>
                </a:solidFill>
                <a:latin typeface="Roboto"/>
              </a:rPr>
              <a:t>Prevent quality regression between releases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2380B0"/>
                </a:solidFill>
              </a:rPr>
              <a:t>●  </a:t>
            </a:r>
            <a:r>
              <a:rPr sz="1300">
                <a:solidFill>
                  <a:srgbClr val="595959"/>
                </a:solidFill>
                <a:latin typeface="Roboto"/>
              </a:rPr>
              <a:t>Demonstrate evidence behind reported figures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2380B0"/>
                </a:solidFill>
              </a:rPr>
              <a:t>●  </a:t>
            </a:r>
            <a:r>
              <a:rPr sz="1300">
                <a:solidFill>
                  <a:srgbClr val="595959"/>
                </a:solidFill>
                <a:latin typeface="Roboto"/>
              </a:rPr>
              <a:t>Control latency, token usage and operating cost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2380B0"/>
                </a:solidFill>
              </a:rPr>
              <a:t>●  </a:t>
            </a:r>
            <a:r>
              <a:rPr sz="1300">
                <a:solidFill>
                  <a:srgbClr val="595959"/>
                </a:solidFill>
                <a:latin typeface="Roboto"/>
              </a:rPr>
              <a:t>Compare tools, prompts and models objectively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2380B0"/>
                </a:solidFill>
              </a:rPr>
              <a:t>●  </a:t>
            </a:r>
            <a:r>
              <a:rPr sz="1300">
                <a:solidFill>
                  <a:srgbClr val="595959"/>
                </a:solidFill>
                <a:latin typeface="Roboto"/>
              </a:rPr>
              <a:t>Improve stakeholder confidence and governance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1298448"/>
            <a:ext cx="5605272" cy="4069080"/>
          </a:xfrm>
          <a:prstGeom prst="roundRect">
            <a:avLst/>
          </a:prstGeom>
          <a:solidFill>
            <a:srgbClr val="F1F7FA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9632" y="1581912"/>
            <a:ext cx="1572768" cy="310896"/>
          </a:xfrm>
          <a:prstGeom prst="roundRect">
            <a:avLst/>
          </a:prstGeom>
          <a:solidFill>
            <a:srgbClr val="91A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1591056"/>
            <a:ext cx="1572768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Roboto"/>
              </a:rPr>
              <a:t>PROPOSED 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2" y="2048256"/>
            <a:ext cx="4919472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212121"/>
                </a:solidFill>
                <a:latin typeface="Roboto Condensed"/>
              </a:rPr>
              <a:t>One observable planning explanation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2" y="2743200"/>
            <a:ext cx="4709160" cy="1691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00">
                <a:solidFill>
                  <a:srgbClr val="91AF3D"/>
                </a:solidFill>
              </a:rPr>
              <a:t>●  </a:t>
            </a:r>
            <a:r>
              <a:rPr sz="1200" b="1">
                <a:solidFill>
                  <a:srgbClr val="212121"/>
                </a:solidFill>
                <a:latin typeface="Roboto"/>
              </a:rPr>
              <a:t>Scope: </a:t>
            </a:r>
            <a:r>
              <a:rPr sz="1200">
                <a:solidFill>
                  <a:srgbClr val="595959"/>
                </a:solidFill>
                <a:latin typeface="Roboto"/>
              </a:rPr>
              <a:t>one question, one workflow, 5–10 evidence records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91AF3D"/>
                </a:solidFill>
              </a:rPr>
              <a:t>●  </a:t>
            </a:r>
            <a:r>
              <a:rPr sz="1200" b="1">
                <a:solidFill>
                  <a:srgbClr val="212121"/>
                </a:solidFill>
                <a:latin typeface="Roboto"/>
              </a:rPr>
              <a:t>Evaluation: </a:t>
            </a:r>
            <a:r>
              <a:rPr sz="1200">
                <a:solidFill>
                  <a:srgbClr val="595959"/>
                </a:solidFill>
                <a:latin typeface="Roboto"/>
              </a:rPr>
              <a:t>4 code checks, 3 judges, 10–20 labeled cases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91AF3D"/>
                </a:solidFill>
              </a:rPr>
              <a:t>●  </a:t>
            </a:r>
            <a:r>
              <a:rPr sz="1200" b="1">
                <a:solidFill>
                  <a:srgbClr val="212121"/>
                </a:solidFill>
                <a:latin typeface="Roboto"/>
              </a:rPr>
              <a:t>Stack: </a:t>
            </a:r>
            <a:r>
              <a:rPr sz="1200">
                <a:solidFill>
                  <a:srgbClr val="595959"/>
                </a:solidFill>
                <a:latin typeface="Roboto"/>
              </a:rPr>
              <a:t>LangGraph + OpenAI + Langfuse Cloud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91AF3D"/>
                </a:solidFill>
              </a:rPr>
              <a:t>●  </a:t>
            </a:r>
            <a:r>
              <a:rPr sz="1200" b="1">
                <a:solidFill>
                  <a:srgbClr val="212121"/>
                </a:solidFill>
                <a:latin typeface="Roboto"/>
              </a:rPr>
              <a:t>Effort: </a:t>
            </a:r>
            <a:r>
              <a:rPr sz="1200">
                <a:solidFill>
                  <a:srgbClr val="595959"/>
                </a:solidFill>
                <a:latin typeface="Roboto"/>
              </a:rPr>
              <a:t>2–4 development days plus a team labeling session</a:t>
            </a:r>
          </a:p>
          <a:p>
            <a:pPr>
              <a:spcAft>
                <a:spcPts val="700"/>
              </a:spcAft>
            </a:pPr>
            <a:r>
              <a:rPr sz="1000">
                <a:solidFill>
                  <a:srgbClr val="91AF3D"/>
                </a:solidFill>
              </a:rPr>
              <a:t>●  </a:t>
            </a:r>
            <a:r>
              <a:rPr sz="1200" b="1">
                <a:solidFill>
                  <a:srgbClr val="212121"/>
                </a:solidFill>
                <a:latin typeface="Roboto"/>
              </a:rPr>
              <a:t>Decision: </a:t>
            </a:r>
            <a:r>
              <a:rPr sz="1200">
                <a:solidFill>
                  <a:srgbClr val="595959"/>
                </a:solidFill>
                <a:latin typeface="Roboto"/>
              </a:rPr>
              <a:t>expand only after the trace and evaluation value is demonstrated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4754880"/>
            <a:ext cx="4956048" cy="393192"/>
          </a:xfrm>
          <a:prstGeom prst="roundRect">
            <a:avLst/>
          </a:prstGeom>
          <a:solidFill>
            <a:srgbClr val="23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4818888"/>
            <a:ext cx="495604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Roboto Condensed"/>
              </a:rPr>
              <a:t>NEXT: CREATE LANGFUSE PROJECT + PRIVATE KEYS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70448"/>
            <a:ext cx="10844784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2380B0"/>
                </a:solidFill>
                <a:latin typeface="Roboto Condensed"/>
              </a:rPr>
              <a:t>The goal is not more logging. The goal is evidence that the AI system behaves as intended.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777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380B0"/>
                </a:solidFill>
                <a:latin typeface="Roboto Condensed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978408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12121"/>
                </a:solidFill>
                <a:latin typeface="Roboto Condensed"/>
              </a:rPr>
              <a:t>Design basis and reference material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914400" cy="41148"/>
          </a:xfrm>
          <a:prstGeom prst="rect">
            <a:avLst/>
          </a:prstGeom>
          <a:solidFill>
            <a:srgbClr val="23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rvir-global-collabor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274320"/>
            <a:ext cx="1627632" cy="2246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56848" y="6473952"/>
            <a:ext cx="29260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6D6E71"/>
                </a:solidFill>
                <a:latin typeface="Roboto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47548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D6E71"/>
                </a:solidFill>
                <a:latin typeface="Roboto Condensed"/>
              </a:rPr>
              <a:t>SERVIR GLOBAL RISK PLATFORM ·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25880"/>
            <a:ext cx="1037844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12121"/>
                </a:solidFill>
                <a:latin typeface="Roboto Condensed"/>
              </a:rPr>
              <a:t>The proposed evaluation pattern follows Langfuse’s observation-first and calibrated-evaluator guidance.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10844784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" y="2075688"/>
            <a:ext cx="1664208" cy="310896"/>
          </a:xfrm>
          <a:prstGeom prst="roundRect">
            <a:avLst/>
          </a:prstGeom>
          <a:solidFill>
            <a:srgbClr val="23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084831"/>
            <a:ext cx="1664208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Roboto"/>
              </a:rPr>
              <a:t>REFERENCE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1488" y="2020824"/>
            <a:ext cx="2788920" cy="2651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12121"/>
                </a:solidFill>
                <a:latin typeface="Roboto Condensed"/>
              </a:rPr>
              <a:t>LLM-as-a-Judge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2313432"/>
            <a:ext cx="815644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95959"/>
                </a:solidFill>
                <a:latin typeface="Roboto"/>
              </a:rPr>
              <a:t>Observation-level evaluators for live traffic; experiments for controlled comparisons; numeric, categorical and boolean scores.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1488" y="2569463"/>
            <a:ext cx="815644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380B0"/>
                </a:solidFill>
                <a:latin typeface="Roboto"/>
              </a:rPr>
              <a:t>https://langfuse.com/docs/evaluation/evaluation-methods/llm-as-a-judge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063239"/>
            <a:ext cx="10844784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" y="3264408"/>
            <a:ext cx="1664208" cy="310896"/>
          </a:xfrm>
          <a:prstGeom prst="roundRect">
            <a:avLst/>
          </a:prstGeom>
          <a:solidFill>
            <a:srgbClr val="7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273551"/>
            <a:ext cx="1664208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Roboto"/>
              </a:rPr>
              <a:t>REFERENCE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1488" y="3209544"/>
            <a:ext cx="2788920" cy="2651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12121"/>
                </a:solidFill>
                <a:latin typeface="Roboto Condensed"/>
              </a:rPr>
              <a:t>Writing good evaluators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3502151"/>
            <a:ext cx="815644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95959"/>
                </a:solidFill>
                <a:latin typeface="Roboto"/>
              </a:rPr>
              <a:t>Prefer deterministic checks; one evaluator per failure mode; binary/categorical verdicts; label real cases and calibrate judges.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1488" y="3758183"/>
            <a:ext cx="815644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380B0"/>
                </a:solidFill>
                <a:latin typeface="Roboto"/>
              </a:rPr>
              <a:t>https://langfuse.com/academy/evaluate/writing-evaluators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251960"/>
            <a:ext cx="10844784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6112" y="4453128"/>
            <a:ext cx="1664208" cy="310896"/>
          </a:xfrm>
          <a:prstGeom prst="round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462272"/>
            <a:ext cx="1664208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Roboto"/>
              </a:rPr>
              <a:t>REFERENCE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1488" y="4398264"/>
            <a:ext cx="2788920" cy="2651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12121"/>
                </a:solidFill>
                <a:latin typeface="Roboto Condensed"/>
              </a:rPr>
              <a:t>Implementation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1488" y="4690872"/>
            <a:ext cx="815644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95959"/>
                </a:solidFill>
                <a:latin typeface="Roboto"/>
              </a:rPr>
              <a:t>Trace-level evaluators are deprecated for Langfuse v4. The pilot should target logical root and operation-level observations.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1488" y="4946904"/>
            <a:ext cx="815644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380B0"/>
                </a:solidFill>
                <a:latin typeface="Roboto"/>
              </a:rPr>
              <a:t>Langfuse documentation reviewed for this proposal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669280"/>
            <a:ext cx="10844784" cy="411480"/>
          </a:xfrm>
          <a:prstGeom prst="roundRect">
            <a:avLst/>
          </a:prstGeom>
          <a:solidFill>
            <a:srgbClr val="F1F7FA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760720"/>
            <a:ext cx="1047902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94F3C"/>
                </a:solidFill>
                <a:latin typeface="Roboto"/>
              </a:rPr>
              <a:t>Human review remains the calibration reference. An LLM judge is another AI component and must itself be measured.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GRP AI Observability and Evaluation Proposal</dc:title>
  <dc:subject>LangGraph, OpenAI and Langfuse Cloud proof of concept</dc:subject>
  <dc:creator>SERVIR Global Risk Platform</dc:creator>
  <cp:keywords>AI observability, evaluation, LangGraph, Langfuse, OpenAI, GRP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