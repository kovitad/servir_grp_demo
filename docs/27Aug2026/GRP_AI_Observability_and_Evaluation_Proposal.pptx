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38912"/>
            <a:ext cx="205740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rvir-global-collabo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585216"/>
            <a:ext cx="1737360" cy="23975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738360" y="502920"/>
            <a:ext cx="1810512" cy="310896"/>
          </a:xfrm>
          <a:prstGeom prst="round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38360" y="512064"/>
            <a:ext cx="181051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TEAM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08760"/>
            <a:ext cx="987552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A9ADA"/>
                </a:solidFill>
                <a:latin typeface="Roboto Condensed"/>
              </a:rPr>
              <a:t>AI OBSERVABILITY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01952"/>
            <a:ext cx="10607040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500" b="1">
                <a:solidFill>
                  <a:srgbClr val="FFFFFF"/>
                </a:solidFill>
                <a:latin typeface="Roboto Condensed"/>
              </a:rPr>
              <a:t>Making every GRP answer
traceable, testable and governable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19272"/>
            <a:ext cx="8961120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2E1E9"/>
                </a:solidFill>
                <a:latin typeface="Roboto"/>
              </a:rPr>
              <a:t>LangGraph workflow tracing · Langfuse Cloud · repeatable evaluation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297680"/>
            <a:ext cx="10835640" cy="1143000"/>
          </a:xfrm>
          <a:prstGeom prst="roundRect">
            <a:avLst/>
          </a:prstGeom>
          <a:solidFill>
            <a:srgbClr val="2F2F2F"/>
          </a:solidFill>
          <a:ln w="12700"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35424"/>
            <a:ext cx="10287000" cy="603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AB40"/>
                </a:solidFill>
                <a:latin typeface="Roboto Condensed"/>
              </a:rPr>
              <a:t>PROOF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10149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Roboto Condensed"/>
              </a:rPr>
              <a:t>Can we explain why an answer was produced—and know whether the next release is better?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291072"/>
            <a:ext cx="5486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4BEC2"/>
                </a:solidFill>
                <a:latin typeface="Roboto Condensed"/>
              </a:rPr>
              <a:t>SERVIR GLOBAL RISK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7772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380B0"/>
                </a:solidFill>
                <a:latin typeface="Roboto Condensed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978408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12121"/>
                </a:solidFill>
                <a:latin typeface="Roboto Condensed"/>
              </a:rPr>
              <a:t>A completed request can still be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914400" cy="4114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rvir-global-collabo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274320"/>
            <a:ext cx="1627632" cy="224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56848" y="6473952"/>
            <a:ext cx="29260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6D6E71"/>
                </a:solidFill>
                <a:latin typeface="Robot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6E71"/>
                </a:solidFill>
                <a:latin typeface="Roboto Condensed"/>
              </a:rPr>
              <a:t>SERVIR GLOBAL RISK PLATFORM ·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25880"/>
            <a:ext cx="4846320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12121"/>
                </a:solidFill>
                <a:latin typeface="Roboto Condensed"/>
              </a:rPr>
              <a:t>A GRP answer crosses multiple components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38528"/>
            <a:ext cx="2971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938528"/>
            <a:ext cx="64008" cy="56692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057400"/>
            <a:ext cx="27157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Agent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350008"/>
            <a:ext cx="2715768" cy="822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routing and decisions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94176" y="2221992"/>
            <a:ext cx="402336" cy="0"/>
          </a:xfrm>
          <a:prstGeom prst="line">
            <a:avLst/>
          </a:prstGeom>
          <a:ln w="1778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8368" y="2670048"/>
            <a:ext cx="2971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670048"/>
            <a:ext cx="64008" cy="566928"/>
          </a:xfrm>
          <a:prstGeom prst="rect">
            <a:avLst/>
          </a:prstGeom>
          <a:solidFill>
            <a:srgbClr val="7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2788920"/>
            <a:ext cx="27157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081528"/>
            <a:ext cx="2715768" cy="822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reasoning and generation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94176" y="2953512"/>
            <a:ext cx="402336" cy="0"/>
          </a:xfrm>
          <a:prstGeom prst="line">
            <a:avLst/>
          </a:prstGeom>
          <a:ln w="1778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58368" y="3401568"/>
            <a:ext cx="2971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401568"/>
            <a:ext cx="64008" cy="566928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3520440"/>
            <a:ext cx="27157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MCP / APIs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813048"/>
            <a:ext cx="2715768" cy="822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tools and external services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94176" y="3685032"/>
            <a:ext cx="402336" cy="0"/>
          </a:xfrm>
          <a:prstGeom prst="line">
            <a:avLst/>
          </a:prstGeom>
          <a:ln w="1778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8368" y="4133088"/>
            <a:ext cx="2971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4133088"/>
            <a:ext cx="64008" cy="566928"/>
          </a:xfrm>
          <a:prstGeom prst="rect">
            <a:avLst/>
          </a:prstGeom>
          <a:solidFill>
            <a:srgbClr val="91A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4251960"/>
            <a:ext cx="27157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Datasets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4544568"/>
            <a:ext cx="2715768" cy="822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source and version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94176" y="4416552"/>
            <a:ext cx="402336" cy="0"/>
          </a:xfrm>
          <a:prstGeom prst="line">
            <a:avLst/>
          </a:prstGeom>
          <a:ln w="1778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8368" y="4864608"/>
            <a:ext cx="2971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4864608"/>
            <a:ext cx="64008" cy="566928"/>
          </a:xfrm>
          <a:prstGeom prst="rect">
            <a:avLst/>
          </a:prstGeom>
          <a:solidFill>
            <a:srgbClr val="4A9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4983480"/>
            <a:ext cx="27157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GIS calculations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5276088"/>
            <a:ext cx="2715768" cy="822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method and outputs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24528" y="1371600"/>
            <a:ext cx="7333488" cy="4462272"/>
          </a:xfrm>
          <a:prstGeom prst="roundRect">
            <a:avLst/>
          </a:prstGeom>
          <a:solidFill>
            <a:srgbClr val="F1F7FA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53712" y="1673352"/>
            <a:ext cx="66751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95959"/>
                </a:solidFill>
                <a:latin typeface="Roboto"/>
              </a:rPr>
              <a:t>Normal application logs usually answer: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51392" y="1627632"/>
            <a:ext cx="2176272" cy="310896"/>
          </a:xfrm>
          <a:prstGeom prst="roundRect">
            <a:avLst/>
          </a:prstGeom>
          <a:solidFill>
            <a:srgbClr val="91A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51392" y="1636776"/>
            <a:ext cx="217627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REQUEST COMPLETED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148840"/>
            <a:ext cx="64008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12121"/>
                </a:solidFill>
                <a:latin typeface="Roboto Condensed"/>
              </a:rPr>
              <a:t>But they do not reliably explain: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2606040"/>
            <a:ext cx="6446520" cy="28803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C94F3C"/>
                </a:solidFill>
              </a:rPr>
              <a:t>●  </a:t>
            </a:r>
            <a:r>
              <a:rPr sz="1500" b="1">
                <a:solidFill>
                  <a:srgbClr val="212121"/>
                </a:solidFill>
                <a:latin typeface="Roboto"/>
              </a:rPr>
              <a:t>Why </a:t>
            </a:r>
            <a:r>
              <a:rPr sz="1500">
                <a:solidFill>
                  <a:srgbClr val="595959"/>
                </a:solidFill>
                <a:latin typeface="Roboto"/>
              </a:rPr>
              <a:t>the agent produced that answer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C94F3C"/>
                </a:solidFill>
              </a:rPr>
              <a:t>●  </a:t>
            </a:r>
            <a:r>
              <a:rPr sz="1500" b="1">
                <a:solidFill>
                  <a:srgbClr val="212121"/>
                </a:solidFill>
                <a:latin typeface="Roboto"/>
              </a:rPr>
              <a:t>Which </a:t>
            </a:r>
            <a:r>
              <a:rPr sz="1500">
                <a:solidFill>
                  <a:srgbClr val="595959"/>
                </a:solidFill>
                <a:latin typeface="Roboto"/>
              </a:rPr>
              <a:t>data, model, prompt and tools it used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C94F3C"/>
                </a:solidFill>
              </a:rPr>
              <a:t>●  </a:t>
            </a:r>
            <a:r>
              <a:rPr sz="1500" b="1">
                <a:solidFill>
                  <a:srgbClr val="212121"/>
                </a:solidFill>
                <a:latin typeface="Roboto"/>
              </a:rPr>
              <a:t>Where </a:t>
            </a:r>
            <a:r>
              <a:rPr sz="1500">
                <a:solidFill>
                  <a:srgbClr val="595959"/>
                </a:solidFill>
                <a:latin typeface="Roboto"/>
              </a:rPr>
              <a:t>an incorrect result originated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C94F3C"/>
                </a:solidFill>
              </a:rPr>
              <a:t>●  </a:t>
            </a:r>
            <a:r>
              <a:rPr sz="1500" b="1">
                <a:solidFill>
                  <a:srgbClr val="212121"/>
                </a:solidFill>
                <a:latin typeface="Roboto"/>
              </a:rPr>
              <a:t>Whether </a:t>
            </a:r>
            <a:r>
              <a:rPr sz="1500">
                <a:solidFill>
                  <a:srgbClr val="595959"/>
                </a:solidFill>
                <a:latin typeface="Roboto"/>
              </a:rPr>
              <a:t>a new version performs better or worse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C94F3C"/>
                </a:solidFill>
              </a:rPr>
              <a:t>●  </a:t>
            </a:r>
            <a:r>
              <a:rPr sz="1500" b="1">
                <a:solidFill>
                  <a:srgbClr val="212121"/>
                </a:solidFill>
                <a:latin typeface="Roboto"/>
              </a:rPr>
              <a:t>How much </a:t>
            </a:r>
            <a:r>
              <a:rPr sz="1500">
                <a:solidFill>
                  <a:srgbClr val="595959"/>
                </a:solidFill>
                <a:latin typeface="Roboto"/>
              </a:rPr>
              <a:t>each request costs and how long it takes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7772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380B0"/>
                </a:solidFill>
                <a:latin typeface="Roboto Condensed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978408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12121"/>
                </a:solidFill>
                <a:latin typeface="Roboto Condensed"/>
              </a:rPr>
              <a:t>Observe the complete path from question to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914400" cy="4114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rvir-global-collabo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274320"/>
            <a:ext cx="1627632" cy="224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56848" y="6473952"/>
            <a:ext cx="29260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6D6E71"/>
                </a:solidFill>
                <a:latin typeface="Roboto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6E71"/>
                </a:solidFill>
                <a:latin typeface="Roboto Condensed"/>
              </a:rPr>
              <a:t>SERVIR GLOBAL RISK PLATFORM ·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07592"/>
            <a:ext cx="1060704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95959"/>
                </a:solidFill>
                <a:latin typeface="Roboto"/>
              </a:rPr>
              <a:t>Request-level observability connects workflow behaviour, evidence provenance and quality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01952"/>
            <a:ext cx="2542032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2121408"/>
            <a:ext cx="914400" cy="310896"/>
          </a:xfrm>
          <a:prstGeom prst="round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130551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TRACE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87752"/>
            <a:ext cx="2121408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12121"/>
                </a:solidFill>
                <a:latin typeface="Roboto Condensed"/>
              </a:rPr>
              <a:t>End-to-end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33756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LangGraph steps and decisions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84048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MCP/API inputs and outputs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4340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Errors and latency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901952"/>
            <a:ext cx="2542032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30168" y="2121408"/>
            <a:ext cx="914400" cy="310896"/>
          </a:xfrm>
          <a:prstGeom prst="roundRect">
            <a:avLst/>
          </a:prstGeom>
          <a:solidFill>
            <a:srgbClr val="7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0168" y="2130551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VERSION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587752"/>
            <a:ext cx="2121408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12121"/>
                </a:solidFill>
                <a:latin typeface="Roboto Condensed"/>
              </a:rPr>
              <a:t>Prompts, models and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333756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Prompt and model versions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0168" y="384048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Dataset and calculation 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434340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Tool configuration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1" y="1901952"/>
            <a:ext cx="2542032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799" y="2121408"/>
            <a:ext cx="914400" cy="310896"/>
          </a:xfrm>
          <a:prstGeom prst="roundRect">
            <a:avLst/>
          </a:prstGeom>
          <a:solidFill>
            <a:srgbClr val="91A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799" y="2130551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MEASURE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799" y="2587752"/>
            <a:ext cx="2121408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12121"/>
                </a:solidFill>
                <a:latin typeface="Roboto Condensed"/>
              </a:rPr>
              <a:t>Usage and 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799" y="333756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Tokens, latency and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799" y="384048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Golden-question scores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799" y="434340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User feedback and alerts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0264" y="1901952"/>
            <a:ext cx="2542032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71432" y="2121408"/>
            <a:ext cx="914400" cy="310896"/>
          </a:xfrm>
          <a:prstGeom prst="round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71432" y="2130551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GOVERN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1432" y="2587752"/>
            <a:ext cx="2121408" cy="576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12121"/>
                </a:solidFill>
                <a:latin typeface="Roboto Condensed"/>
              </a:rPr>
              <a:t>Access and audit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1432" y="333756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Masking and retention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1432" y="384048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Role-based access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1432" y="4343400"/>
            <a:ext cx="214884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Roboto"/>
              </a:rPr>
              <a:t>• Investigation history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413248"/>
            <a:ext cx="10844784" cy="566928"/>
          </a:xfrm>
          <a:prstGeom prst="roundRect">
            <a:avLst/>
          </a:prstGeom>
          <a:solidFill>
            <a:srgbClr val="F1F7FA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" y="5541264"/>
            <a:ext cx="104698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380B0"/>
                </a:solidFill>
                <a:latin typeface="Roboto"/>
              </a:rPr>
              <a:t>One trace ID links the user request, workflow steps, generations, tools, evidence and evaluation scores.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7772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380B0"/>
                </a:solidFill>
                <a:latin typeface="Roboto Condensed"/>
              </a:rPr>
              <a:t>TRACE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978408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12121"/>
                </a:solidFill>
                <a:latin typeface="Roboto Condensed"/>
              </a:rPr>
              <a:t>What one observable GRP request looks like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914400" cy="4114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rvir-global-collabo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274320"/>
            <a:ext cx="1627632" cy="224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56848" y="6473952"/>
            <a:ext cx="29260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6D6E71"/>
                </a:solidFill>
                <a:latin typeface="Roboto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6E71"/>
                </a:solidFill>
                <a:latin typeface="Roboto Condensed"/>
              </a:rPr>
              <a:t>SERVIR GLOBAL RISK PLATFORM ·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261872"/>
            <a:ext cx="987552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12121"/>
                </a:solidFill>
                <a:latin typeface="Roboto Condensed"/>
              </a:rPr>
              <a:t>Example: “Why prioritise populations farther than 1 km from candidate shelters?”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1"/>
            <a:ext cx="184708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7512" y="2240280"/>
            <a:ext cx="365760" cy="365760"/>
          </a:xfrm>
          <a:prstGeom prst="ellipse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267712"/>
            <a:ext cx="365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2185416"/>
            <a:ext cx="1097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380B0"/>
                </a:solidFill>
                <a:latin typeface="Roboto Condensed"/>
              </a:rPr>
              <a:t>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624328"/>
            <a:ext cx="157276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AOI · scenario · access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23160" y="2651760"/>
            <a:ext cx="228600" cy="0"/>
          </a:xfrm>
          <a:prstGeom prst="line">
            <a:avLst/>
          </a:prstGeom>
          <a:ln w="1905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697480" y="2084831"/>
            <a:ext cx="184708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16352" y="2240280"/>
            <a:ext cx="365760" cy="365760"/>
          </a:xfrm>
          <a:prstGeom prst="ellipse">
            <a:avLst/>
          </a:prstGeom>
          <a:solidFill>
            <a:srgbClr val="91A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16352" y="2267712"/>
            <a:ext cx="365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82696" y="2185416"/>
            <a:ext cx="1097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91AF3D"/>
                </a:solidFill>
                <a:latin typeface="Roboto Condensed"/>
              </a:rPr>
              <a:t>RETRIEVE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25496" y="2624328"/>
            <a:ext cx="157276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evidence IDs · versions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0" y="2651760"/>
            <a:ext cx="228600" cy="0"/>
          </a:xfrm>
          <a:prstGeom prst="line">
            <a:avLst/>
          </a:prstGeom>
          <a:ln w="1905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846320" y="2084831"/>
            <a:ext cx="184708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65192" y="2240280"/>
            <a:ext cx="365760" cy="365760"/>
          </a:xfrm>
          <a:prstGeom prst="ellipse">
            <a:avLst/>
          </a:prstGeom>
          <a:solidFill>
            <a:srgbClr val="4A9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2267712"/>
            <a:ext cx="365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31536" y="2185416"/>
            <a:ext cx="1097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A9ADA"/>
                </a:solidFill>
                <a:latin typeface="Roboto Condensed"/>
              </a:rPr>
              <a:t>CALCULATE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74336" y="2624328"/>
            <a:ext cx="157276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method · parameters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720840" y="2651760"/>
            <a:ext cx="228600" cy="0"/>
          </a:xfrm>
          <a:prstGeom prst="line">
            <a:avLst/>
          </a:prstGeom>
          <a:ln w="1905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95160" y="2084831"/>
            <a:ext cx="184708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14032" y="2240280"/>
            <a:ext cx="365760" cy="365760"/>
          </a:xfrm>
          <a:prstGeom prst="ellipse">
            <a:avLst/>
          </a:prstGeom>
          <a:solidFill>
            <a:srgbClr val="7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14032" y="2267712"/>
            <a:ext cx="365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0376" y="2185416"/>
            <a:ext cx="1097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04090"/>
                </a:solidFill>
                <a:latin typeface="Roboto Condensed"/>
              </a:rPr>
              <a:t>GENERATE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23176" y="2624328"/>
            <a:ext cx="157276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prompt · model · tokens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69680" y="2651760"/>
            <a:ext cx="228600" cy="0"/>
          </a:xfrm>
          <a:prstGeom prst="line">
            <a:avLst/>
          </a:prstGeom>
          <a:ln w="1905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144000" y="2084831"/>
            <a:ext cx="184708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262872" y="2240280"/>
            <a:ext cx="365760" cy="365760"/>
          </a:xfrm>
          <a:prstGeom prst="ellipse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2872" y="2267712"/>
            <a:ext cx="365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9216" y="2185416"/>
            <a:ext cx="1097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AB40"/>
                </a:solidFill>
                <a:latin typeface="Roboto Condensed"/>
              </a:rPr>
              <a:t>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2624328"/>
            <a:ext cx="157276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citations · limitations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3703320"/>
            <a:ext cx="10844784" cy="1627632"/>
          </a:xfrm>
          <a:prstGeom prst="roundRect">
            <a:avLst/>
          </a:prstGeom>
          <a:solidFill>
            <a:srgbClr val="F1F7FA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3931920"/>
            <a:ext cx="21945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380B0"/>
                </a:solidFill>
                <a:latin typeface="Roboto Condensed"/>
              </a:rPr>
              <a:t>LANGFUSE TRACE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" y="4343400"/>
            <a:ext cx="14173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12121"/>
                </a:solidFill>
                <a:latin typeface="Roboto Condensed"/>
              </a:rPr>
              <a:t>2.8 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" y="4727448"/>
            <a:ext cx="14173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D6E71"/>
                </a:solidFill>
                <a:latin typeface="Roboto"/>
              </a:rPr>
              <a:t>total latency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15184" y="4343400"/>
            <a:ext cx="14173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12121"/>
                </a:solidFill>
                <a:latin typeface="Roboto Condensed"/>
              </a:rPr>
              <a:t>1,420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15184" y="4727448"/>
            <a:ext cx="14173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D6E71"/>
                </a:solidFill>
                <a:latin typeface="Roboto"/>
              </a:rPr>
              <a:t>input tokens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6" y="4343400"/>
            <a:ext cx="14173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12121"/>
                </a:solidFill>
                <a:latin typeface="Roboto Condensed"/>
              </a:rPr>
              <a:t>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6" y="4727448"/>
            <a:ext cx="14173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D6E71"/>
                </a:solidFill>
                <a:latin typeface="Roboto"/>
              </a:rPr>
              <a:t>output tokens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53327" y="4343400"/>
            <a:ext cx="14173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12121"/>
                </a:solidFill>
                <a:latin typeface="Roboto Condensed"/>
              </a:rPr>
              <a:t>$0.006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53327" y="4727448"/>
            <a:ext cx="14173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D6E71"/>
                </a:solidFill>
                <a:latin typeface="Roboto"/>
              </a:rPr>
              <a:t>estimated cost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343400"/>
            <a:ext cx="14173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12121"/>
                </a:solidFill>
                <a:latin typeface="Roboto Condensed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4727448"/>
            <a:ext cx="14173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D6E71"/>
                </a:solidFill>
                <a:latin typeface="Roboto"/>
              </a:rPr>
              <a:t>evidence records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91472" y="4343400"/>
            <a:ext cx="14173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12121"/>
                </a:solidFill>
                <a:latin typeface="Roboto Condensed"/>
              </a:rPr>
              <a:t>PASS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91472" y="4727448"/>
            <a:ext cx="14173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6D6E71"/>
                </a:solidFill>
                <a:latin typeface="Roboto"/>
              </a:rPr>
              <a:t>citation check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5650992"/>
            <a:ext cx="107899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D6E71"/>
                </a:solidFill>
                <a:latin typeface="Roboto"/>
              </a:rPr>
              <a:t>Illustrative figures · Langfuse records actual provider usage returned by each generation.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7772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380B0"/>
                </a:solidFill>
                <a:latin typeface="Roboto Condensed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978408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12121"/>
                </a:solidFill>
                <a:latin typeface="Roboto Condensed"/>
              </a:rPr>
              <a:t>Turn quality into a repeatable release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914400" cy="4114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rvir-global-collabo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274320"/>
            <a:ext cx="1627632" cy="224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56848" y="6473952"/>
            <a:ext cx="29260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6D6E71"/>
                </a:solidFill>
                <a:latin typeface="Roboto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6E71"/>
                </a:solidFill>
                <a:latin typeface="Roboto Condensed"/>
              </a:rPr>
              <a:t>SERVIR GLOBAL RISK PLATFORM · PROPOSAL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1645920"/>
            <a:ext cx="1554480" cy="15544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38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75104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80B0"/>
                </a:solidFill>
                <a:latin typeface="Roboto Condensed"/>
              </a:rPr>
              <a:t>GOLDEN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304288"/>
            <a:ext cx="12984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Roboto"/>
              </a:rPr>
              <a:t>agreed scenarios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67128" y="2423160"/>
            <a:ext cx="548640" cy="0"/>
          </a:xfrm>
          <a:prstGeom prst="line">
            <a:avLst/>
          </a:prstGeom>
          <a:ln w="2032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871216" y="1645920"/>
            <a:ext cx="1554480" cy="15544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704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75104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04090"/>
                </a:solidFill>
                <a:latin typeface="Roboto Condensed"/>
              </a:rPr>
              <a:t>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2304288"/>
            <a:ext cx="12984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Roboto"/>
              </a:rPr>
              <a:t>current version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71416" y="2423160"/>
            <a:ext cx="548640" cy="0"/>
          </a:xfrm>
          <a:prstGeom prst="line">
            <a:avLst/>
          </a:prstGeom>
          <a:ln w="2032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175504" y="1645920"/>
            <a:ext cx="1554480" cy="15544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1AF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66944" y="1975104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91AF3D"/>
                </a:solidFill>
                <a:latin typeface="Roboto Condensed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304288"/>
            <a:ext cx="12984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Roboto"/>
              </a:rPr>
              <a:t>quality dimensions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75704" y="2423160"/>
            <a:ext cx="548640" cy="0"/>
          </a:xfrm>
          <a:prstGeom prst="line">
            <a:avLst/>
          </a:prstGeom>
          <a:ln w="2032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479792" y="1645920"/>
            <a:ext cx="1554480" cy="15544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4A9A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1975104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A9ADA"/>
                </a:solidFill>
                <a:latin typeface="Roboto Condensed"/>
              </a:rPr>
              <a:t>COMPARE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7808" y="2304288"/>
            <a:ext cx="12984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Roboto"/>
              </a:rPr>
              <a:t>baseline vs candidate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79992" y="2423160"/>
            <a:ext cx="548640" cy="0"/>
          </a:xfrm>
          <a:prstGeom prst="line">
            <a:avLst/>
          </a:prstGeom>
          <a:ln w="2032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9784080" y="1645920"/>
            <a:ext cx="1554480" cy="15544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A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19" y="1975104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AB40"/>
                </a:solidFill>
                <a:latin typeface="Roboto Condensed"/>
              </a:rPr>
              <a:t>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12096" y="2304288"/>
            <a:ext cx="129844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595959"/>
                </a:solidFill>
                <a:latin typeface="Roboto"/>
              </a:rPr>
              <a:t>release decision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520440"/>
            <a:ext cx="388620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12121"/>
                </a:solidFill>
                <a:latin typeface="Roboto Condensed"/>
              </a:rPr>
              <a:t>Initial scorecard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31920"/>
            <a:ext cx="5074920" cy="196596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2380B0"/>
                </a:solidFill>
              </a:rPr>
              <a:t>●  </a:t>
            </a:r>
            <a:r>
              <a:rPr sz="1200" b="1">
                <a:solidFill>
                  <a:srgbClr val="212121"/>
                </a:solidFill>
                <a:latin typeface="Roboto"/>
              </a:rPr>
              <a:t>Groundedness</a:t>
            </a:r>
            <a:r>
              <a:rPr sz="1200">
                <a:solidFill>
                  <a:srgbClr val="595959"/>
                </a:solidFill>
                <a:latin typeface="Roboto"/>
              </a:rPr>
              <a:t>Claims supported by retrieved evidence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2380B0"/>
                </a:solidFill>
              </a:rPr>
              <a:t>●  </a:t>
            </a:r>
            <a:r>
              <a:rPr sz="1200" b="1">
                <a:solidFill>
                  <a:srgbClr val="212121"/>
                </a:solidFill>
                <a:latin typeface="Roboto"/>
              </a:rPr>
              <a:t>Citation quality</a:t>
            </a:r>
            <a:r>
              <a:rPr sz="1200">
                <a:solidFill>
                  <a:srgbClr val="595959"/>
                </a:solidFill>
                <a:latin typeface="Roboto"/>
              </a:rPr>
              <a:t>Correct source IDs and versions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2380B0"/>
                </a:solidFill>
              </a:rPr>
              <a:t>●  </a:t>
            </a:r>
            <a:r>
              <a:rPr sz="1200" b="1">
                <a:solidFill>
                  <a:srgbClr val="212121"/>
                </a:solidFill>
                <a:latin typeface="Roboto"/>
              </a:rPr>
              <a:t>Safety</a:t>
            </a:r>
            <a:r>
              <a:rPr sz="1200">
                <a:solidFill>
                  <a:srgbClr val="595959"/>
                </a:solidFill>
                <a:latin typeface="Roboto"/>
              </a:rPr>
              <a:t>Mandatory limitations included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2380B0"/>
                </a:solidFill>
              </a:rPr>
              <a:t>●  </a:t>
            </a:r>
            <a:r>
              <a:rPr sz="1200" b="1">
                <a:solidFill>
                  <a:srgbClr val="212121"/>
                </a:solidFill>
                <a:latin typeface="Roboto"/>
              </a:rPr>
              <a:t>Completeness</a:t>
            </a:r>
            <a:r>
              <a:rPr sz="1200">
                <a:solidFill>
                  <a:srgbClr val="595959"/>
                </a:solidFill>
                <a:latin typeface="Roboto"/>
              </a:rPr>
              <a:t>Question answered without unsupported gaps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2380B0"/>
                </a:solidFill>
              </a:rPr>
              <a:t>●  </a:t>
            </a:r>
            <a:r>
              <a:rPr sz="1200" b="1">
                <a:solidFill>
                  <a:srgbClr val="212121"/>
                </a:solidFill>
                <a:latin typeface="Roboto"/>
              </a:rPr>
              <a:t>Usefulness</a:t>
            </a:r>
            <a:r>
              <a:rPr sz="1200">
                <a:solidFill>
                  <a:srgbClr val="595959"/>
                </a:solidFill>
                <a:latin typeface="Roboto"/>
              </a:rPr>
              <a:t>Planner rating or reviewer score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3456432"/>
            <a:ext cx="5358384" cy="2331720"/>
          </a:xfrm>
          <a:prstGeom prst="roundRect">
            <a:avLst/>
          </a:prstGeom>
          <a:solidFill>
            <a:srgbClr val="F1F7FA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730752"/>
            <a:ext cx="48097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12121"/>
                </a:solidFill>
                <a:latin typeface="Roboto Condensed"/>
              </a:rPr>
              <a:t>Release comparison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224528"/>
            <a:ext cx="14173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D6E71"/>
                </a:solidFill>
                <a:latin typeface="Roboto"/>
              </a:rPr>
              <a:t>BASELINE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4224528"/>
            <a:ext cx="14173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380B0"/>
                </a:solidFill>
                <a:latin typeface="Roboto"/>
              </a:rPr>
              <a:t>CANDIDATE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4572000"/>
            <a:ext cx="2057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Roboto"/>
              </a:rPr>
              <a:t>Groundedness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4572000"/>
            <a:ext cx="914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D6E71"/>
                </a:solidFill>
                <a:latin typeface="Roboto"/>
              </a:rPr>
              <a:t>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4572000"/>
            <a:ext cx="914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91AF3D"/>
                </a:solidFill>
                <a:latin typeface="Roboto"/>
              </a:rPr>
              <a:t>94%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4937760"/>
            <a:ext cx="2057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Roboto"/>
              </a:rPr>
              <a:t>Average latency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4937760"/>
            <a:ext cx="914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D6E71"/>
                </a:solidFill>
                <a:latin typeface="Roboto"/>
              </a:rPr>
              <a:t>3.8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57232" y="4937760"/>
            <a:ext cx="914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91AF3D"/>
                </a:solidFill>
                <a:latin typeface="Roboto"/>
              </a:rPr>
              <a:t>2.9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9088" y="5303520"/>
            <a:ext cx="2057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Roboto"/>
              </a:rPr>
              <a:t>Cost / 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5303520"/>
            <a:ext cx="914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D6E71"/>
                </a:solidFill>
                <a:latin typeface="Roboto"/>
              </a:rPr>
              <a:t>$0.010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57232" y="5303520"/>
            <a:ext cx="914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91AF3D"/>
                </a:solidFill>
                <a:latin typeface="Roboto"/>
              </a:rPr>
              <a:t>$0.007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7772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380B0"/>
                </a:solidFill>
                <a:latin typeface="Roboto Condensed"/>
              </a:rPr>
              <a:t>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978408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12121"/>
                </a:solidFill>
                <a:latin typeface="Roboto Condensed"/>
              </a:rPr>
              <a:t>One simple use case in the current prototype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914400" cy="4114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rvir-global-collabo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274320"/>
            <a:ext cx="1627632" cy="224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56848" y="6473952"/>
            <a:ext cx="29260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6D6E71"/>
                </a:solidFill>
                <a:latin typeface="Roboto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6E71"/>
                </a:solidFill>
                <a:latin typeface="Roboto Condensed"/>
              </a:rPr>
              <a:t>SERVIR GLOBAL RISK PLATFORM ·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53312"/>
            <a:ext cx="10844784" cy="658368"/>
          </a:xfrm>
          <a:prstGeom prst="roundRect">
            <a:avLst/>
          </a:prstGeom>
          <a:solidFill>
            <a:srgbClr val="F1F7FA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3327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12121"/>
                </a:solidFill>
                <a:latin typeface="Roboto Condensed"/>
              </a:rPr>
              <a:t>“Why should areas farther than 1 km from candidate shelters be prioritised?”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468880"/>
            <a:ext cx="235915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468880"/>
            <a:ext cx="64008" cy="102412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87752"/>
            <a:ext cx="2103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APP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880360"/>
            <a:ext cx="2103120" cy="5394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18,640 exposed
11,240 beyond 1 km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99815" y="2971800"/>
            <a:ext cx="283465" cy="0"/>
          </a:xfrm>
          <a:prstGeom prst="line">
            <a:avLst/>
          </a:prstGeom>
          <a:ln w="1905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74720" y="2468880"/>
            <a:ext cx="235915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2468880"/>
            <a:ext cx="64008" cy="1024128"/>
          </a:xfrm>
          <a:prstGeom prst="rect">
            <a:avLst/>
          </a:prstGeom>
          <a:solidFill>
            <a:srgbClr val="91A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39312" y="2587752"/>
            <a:ext cx="2103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RETRIEVE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9312" y="2880360"/>
            <a:ext cx="2103120" cy="5394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3 governed
evidence records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61304" y="2971800"/>
            <a:ext cx="283464" cy="0"/>
          </a:xfrm>
          <a:prstGeom prst="line">
            <a:avLst/>
          </a:prstGeom>
          <a:ln w="1905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36208" y="2468880"/>
            <a:ext cx="235915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6208" y="2468880"/>
            <a:ext cx="64008" cy="1024128"/>
          </a:xfrm>
          <a:prstGeom prst="rect">
            <a:avLst/>
          </a:prstGeom>
          <a:solidFill>
            <a:srgbClr val="7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87752"/>
            <a:ext cx="2103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OPENAI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80360"/>
            <a:ext cx="2103120" cy="5394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planning explanation
with citations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22792" y="2971800"/>
            <a:ext cx="283464" cy="0"/>
          </a:xfrm>
          <a:prstGeom prst="line">
            <a:avLst/>
          </a:prstGeom>
          <a:ln w="1905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97696" y="2468880"/>
            <a:ext cx="235915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97696" y="2468880"/>
            <a:ext cx="64008" cy="1024128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2587752"/>
            <a:ext cx="2103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2288" y="2880360"/>
            <a:ext cx="2103120" cy="5394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citations + safety
limitations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3931920"/>
            <a:ext cx="44805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12121"/>
                </a:solidFill>
                <a:latin typeface="Roboto Condensed"/>
              </a:rPr>
              <a:t>Answer contract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315968"/>
            <a:ext cx="4892040" cy="16459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2380B0"/>
                </a:solidFill>
              </a:rPr>
              <a:t>●  </a:t>
            </a:r>
            <a:r>
              <a:rPr sz="1200">
                <a:solidFill>
                  <a:srgbClr val="595959"/>
                </a:solidFill>
                <a:latin typeface="Roboto"/>
              </a:rPr>
              <a:t>Short planning explanation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2380B0"/>
                </a:solidFill>
              </a:rPr>
              <a:t>●  </a:t>
            </a:r>
            <a:r>
              <a:rPr sz="1200">
                <a:solidFill>
                  <a:srgbClr val="595959"/>
                </a:solidFill>
                <a:latin typeface="Roboto"/>
              </a:rPr>
              <a:t>Reported figures with evidence IDs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2380B0"/>
                </a:solidFill>
              </a:rPr>
              <a:t>●  </a:t>
            </a:r>
            <a:r>
              <a:rPr sz="1200">
                <a:solidFill>
                  <a:srgbClr val="595959"/>
                </a:solidFill>
                <a:latin typeface="Roboto"/>
              </a:rPr>
              <a:t>Recommended follow-up actions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2380B0"/>
                </a:solidFill>
              </a:rPr>
              <a:t>●  </a:t>
            </a:r>
            <a:r>
              <a:rPr sz="1200">
                <a:solidFill>
                  <a:srgbClr val="595959"/>
                </a:solidFill>
                <a:latin typeface="Roboto"/>
              </a:rPr>
              <a:t>Explicit mocked-data and shelter limitations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3886200"/>
            <a:ext cx="5513832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36208" y="4133087"/>
            <a:ext cx="1572768" cy="310896"/>
          </a:xfrm>
          <a:prstGeom prst="roundRect">
            <a:avLst/>
          </a:prstGeom>
          <a:solidFill>
            <a:srgbClr val="91A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8" y="4142231"/>
            <a:ext cx="1572768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WHY THIS WORKS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4617720"/>
            <a:ext cx="4937760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12121"/>
                </a:solidFill>
                <a:latin typeface="Roboto Condensed"/>
              </a:rPr>
              <a:t>It demonstrates retrieval, generation, validation, tokens, cost and evidence provenance—without adding a vector database or sensitive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7772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380B0"/>
                </a:solidFill>
                <a:latin typeface="Roboto Condensed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978408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12121"/>
                </a:solidFill>
                <a:latin typeface="Roboto Condensed"/>
              </a:rPr>
              <a:t>Minimal architecture for the 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914400" cy="4114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rvir-global-collabo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274320"/>
            <a:ext cx="1627632" cy="224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56848" y="6473952"/>
            <a:ext cx="29260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6D6E71"/>
                </a:solidFill>
                <a:latin typeface="Roboto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6E71"/>
                </a:solidFill>
                <a:latin typeface="Roboto Condensed"/>
              </a:rPr>
              <a:t>SERVIR GLOBAL RISK PLATFORM ·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2395728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64008" cy="1097280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691640"/>
            <a:ext cx="213969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84248"/>
            <a:ext cx="2139696" cy="6126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Existing GRP prototype
Question + assessment context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121408"/>
            <a:ext cx="301752" cy="0"/>
          </a:xfrm>
          <a:prstGeom prst="line">
            <a:avLst/>
          </a:prstGeom>
          <a:ln w="1905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19272" y="1572768"/>
            <a:ext cx="2395728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9272" y="1572768"/>
            <a:ext cx="64008" cy="109728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1691640"/>
            <a:ext cx="213969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BACKEND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1984248"/>
            <a:ext cx="2139696" cy="6126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Node.js service
Keys remain server-side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42431" y="2121408"/>
            <a:ext cx="301752" cy="0"/>
          </a:xfrm>
          <a:prstGeom prst="line">
            <a:avLst/>
          </a:prstGeom>
          <a:ln w="1905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35624" y="1572768"/>
            <a:ext cx="2395728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5624" y="1572768"/>
            <a:ext cx="64008" cy="1097280"/>
          </a:xfrm>
          <a:prstGeom prst="rect">
            <a:avLst/>
          </a:prstGeom>
          <a:solidFill>
            <a:srgbClr val="7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1691640"/>
            <a:ext cx="213969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LANGGRAPH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1984248"/>
            <a:ext cx="2139696" cy="6126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Five-node workflow
Validate · retrieve · generate · check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558784" y="2121408"/>
            <a:ext cx="301752" cy="0"/>
          </a:xfrm>
          <a:prstGeom prst="line">
            <a:avLst/>
          </a:prstGeom>
          <a:ln w="19050">
            <a:solidFill>
              <a:srgbClr val="6D6E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951976" y="1572768"/>
            <a:ext cx="2395728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51976" y="1572768"/>
            <a:ext cx="64008" cy="1097280"/>
          </a:xfrm>
          <a:prstGeom prst="rect">
            <a:avLst/>
          </a:prstGeom>
          <a:solidFill>
            <a:srgbClr val="91A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16568" y="1691640"/>
            <a:ext cx="213969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 Condensed"/>
              </a:rPr>
              <a:t>OPENAI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1984248"/>
            <a:ext cx="2139696" cy="6126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95959"/>
                </a:solidFill>
                <a:latin typeface="Roboto"/>
              </a:rPr>
              <a:t>LLM provider
Answer + token usage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0128" y="3218688"/>
            <a:ext cx="5559552" cy="1188720"/>
          </a:xfrm>
          <a:prstGeom prst="roundRect">
            <a:avLst/>
          </a:prstGeom>
          <a:solidFill>
            <a:srgbClr val="F1F7FA"/>
          </a:solidFill>
          <a:ln w="12700">
            <a:solidFill>
              <a:srgbClr val="238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344728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380B0"/>
                </a:solidFill>
                <a:latin typeface="Roboto Condensed"/>
              </a:rPr>
              <a:t>LANGFUSE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794760"/>
            <a:ext cx="502920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12121"/>
                </a:solidFill>
                <a:latin typeface="Roboto"/>
              </a:rPr>
              <a:t>Trace · spans · generations · tokens · cost · scores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089904" y="2724912"/>
            <a:ext cx="0" cy="420624"/>
          </a:xfrm>
          <a:prstGeom prst="line">
            <a:avLst/>
          </a:prstGeom>
          <a:ln w="25400">
            <a:solidFill>
              <a:srgbClr val="238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58368" y="4873752"/>
            <a:ext cx="10844784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065776"/>
            <a:ext cx="19659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94F3C"/>
                </a:solidFill>
                <a:latin typeface="Roboto Condensed"/>
              </a:rPr>
              <a:t>PRIVATE ENVIRONMENT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992624"/>
            <a:ext cx="81381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95959"/>
                </a:solidFill>
                <a:latin typeface="Roboto"/>
              </a:rPr>
              <a:t>OPENAI_API_KEY  ·  LANGFUSE_PUBLIC_KEY  ·  LANGFUSE_SECRET_KEY  ·  LANGFUSE_BASE_URL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888736"/>
            <a:ext cx="105613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D6E71"/>
                </a:solidFill>
                <a:latin typeface="Roboto"/>
              </a:rPr>
              <a:t>No API keys in browser JavaScript or GitHub. No LangGraph API key is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7772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380B0"/>
                </a:solidFill>
                <a:latin typeface="Roboto Condensed"/>
              </a:rP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978408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12121"/>
                </a:solidFill>
                <a:latin typeface="Roboto Condensed"/>
              </a:rPr>
              <a:t>A five-minute team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914400" cy="4114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rvir-global-collabo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274320"/>
            <a:ext cx="1627632" cy="224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56848" y="6473952"/>
            <a:ext cx="29260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6D6E71"/>
                </a:solidFill>
                <a:latin typeface="Roboto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6E71"/>
                </a:solidFill>
                <a:latin typeface="Roboto Condensed"/>
              </a:rPr>
              <a:t>SERVIR GLOBAL RISK PLATFORM · PROPOSAL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325880"/>
            <a:ext cx="493776" cy="493776"/>
          </a:xfrm>
          <a:prstGeom prst="ellipse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99032"/>
            <a:ext cx="493776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16736"/>
            <a:ext cx="30632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12121"/>
                </a:solidFill>
                <a:latin typeface="Roboto Condensed"/>
              </a:rPr>
              <a:t>Run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636776"/>
            <a:ext cx="3429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Roboto"/>
              </a:rPr>
              <a:t>Select Phaya Thai · RP100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0120" y="1892807"/>
            <a:ext cx="0" cy="228601"/>
          </a:xfrm>
          <a:prstGeom prst="line">
            <a:avLst/>
          </a:prstGeom>
          <a:ln w="25400">
            <a:solidFill>
              <a:srgbClr val="D7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13232" y="2185415"/>
            <a:ext cx="493776" cy="493776"/>
          </a:xfrm>
          <a:prstGeom prst="ellipse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58568"/>
            <a:ext cx="493776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176272"/>
            <a:ext cx="30632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12121"/>
                </a:solidFill>
                <a:latin typeface="Roboto Condensed"/>
              </a:rPr>
              <a:t>Ask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496311"/>
            <a:ext cx="3429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Roboto"/>
              </a:rPr>
              <a:t>Generate planning explanation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0120" y="2752344"/>
            <a:ext cx="0" cy="228600"/>
          </a:xfrm>
          <a:prstGeom prst="line">
            <a:avLst/>
          </a:prstGeom>
          <a:ln w="25400">
            <a:solidFill>
              <a:srgbClr val="D7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13232" y="3044952"/>
            <a:ext cx="493776" cy="493776"/>
          </a:xfrm>
          <a:prstGeom prst="ellipse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118104"/>
            <a:ext cx="493776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035808"/>
            <a:ext cx="30632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12121"/>
                </a:solidFill>
                <a:latin typeface="Roboto Condensed"/>
              </a:rPr>
              <a:t>Inspect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355848"/>
            <a:ext cx="3429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Roboto"/>
              </a:rPr>
              <a:t>Figures · citations · limitations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0120" y="3611880"/>
            <a:ext cx="0" cy="228600"/>
          </a:xfrm>
          <a:prstGeom prst="line">
            <a:avLst/>
          </a:prstGeom>
          <a:ln w="25400">
            <a:solidFill>
              <a:srgbClr val="D7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13232" y="3904487"/>
            <a:ext cx="493776" cy="493776"/>
          </a:xfrm>
          <a:prstGeom prst="ellipse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977639"/>
            <a:ext cx="493776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895344"/>
            <a:ext cx="30632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12121"/>
                </a:solidFill>
                <a:latin typeface="Roboto Condensed"/>
              </a:rPr>
              <a:t>Open Langfuse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215383"/>
            <a:ext cx="3429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Roboto"/>
              </a:rPr>
              <a:t>Trace · steps · retrieval · generation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60120" y="4471416"/>
            <a:ext cx="0" cy="228600"/>
          </a:xfrm>
          <a:prstGeom prst="line">
            <a:avLst/>
          </a:prstGeom>
          <a:ln w="25400">
            <a:solidFill>
              <a:srgbClr val="D7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713232" y="4764024"/>
            <a:ext cx="493776" cy="493776"/>
          </a:xfrm>
          <a:prstGeom prst="ellipse">
            <a:avLst/>
          </a:prstGeom>
          <a:solidFill>
            <a:srgbClr val="91A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837176"/>
            <a:ext cx="493776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754880"/>
            <a:ext cx="30632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12121"/>
                </a:solidFill>
                <a:latin typeface="Roboto Condensed"/>
              </a:rPr>
              <a:t>Compare runs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5074920"/>
            <a:ext cx="3429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Roboto"/>
              </a:rPr>
              <a:t>Prompt/model version · score · cost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1353312"/>
            <a:ext cx="6016752" cy="4169663"/>
          </a:xfrm>
          <a:prstGeom prst="roundRect">
            <a:avLst/>
          </a:prstGeom>
          <a:solidFill>
            <a:srgbClr val="F1F7FA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06440" y="1664208"/>
            <a:ext cx="53492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12121"/>
                </a:solidFill>
                <a:latin typeface="Roboto Condensed"/>
              </a:rPr>
              <a:t>What the team should see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2148840"/>
            <a:ext cx="5074920" cy="29260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380B0"/>
                </a:solidFill>
              </a:rPr>
              <a:t>●  </a:t>
            </a:r>
            <a:r>
              <a:rPr sz="1400" b="1">
                <a:solidFill>
                  <a:srgbClr val="212121"/>
                </a:solidFill>
                <a:latin typeface="Roboto"/>
              </a:rPr>
              <a:t>Traceability: </a:t>
            </a:r>
            <a:r>
              <a:rPr sz="1400">
                <a:solidFill>
                  <a:srgbClr val="595959"/>
                </a:solidFill>
                <a:latin typeface="Roboto"/>
              </a:rPr>
              <a:t>every answer links to its workflow and evidence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380B0"/>
                </a:solidFill>
              </a:rPr>
              <a:t>●  </a:t>
            </a:r>
            <a:r>
              <a:rPr sz="1400" b="1">
                <a:solidFill>
                  <a:srgbClr val="212121"/>
                </a:solidFill>
                <a:latin typeface="Roboto"/>
              </a:rPr>
              <a:t>Diagnosis: </a:t>
            </a:r>
            <a:r>
              <a:rPr sz="1400">
                <a:solidFill>
                  <a:srgbClr val="595959"/>
                </a:solidFill>
                <a:latin typeface="Roboto"/>
              </a:rPr>
              <a:t>the failing component is visible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380B0"/>
                </a:solidFill>
              </a:rPr>
              <a:t>●  </a:t>
            </a:r>
            <a:r>
              <a:rPr sz="1400" b="1">
                <a:solidFill>
                  <a:srgbClr val="212121"/>
                </a:solidFill>
                <a:latin typeface="Roboto"/>
              </a:rPr>
              <a:t>Evaluation: </a:t>
            </a:r>
            <a:r>
              <a:rPr sz="1400">
                <a:solidFill>
                  <a:srgbClr val="595959"/>
                </a:solidFill>
                <a:latin typeface="Roboto"/>
              </a:rPr>
              <a:t>quality changes are measured, not assumed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380B0"/>
                </a:solidFill>
              </a:rPr>
              <a:t>●  </a:t>
            </a:r>
            <a:r>
              <a:rPr sz="1400" b="1">
                <a:solidFill>
                  <a:srgbClr val="212121"/>
                </a:solidFill>
                <a:latin typeface="Roboto"/>
              </a:rPr>
              <a:t>Economics: </a:t>
            </a:r>
            <a:r>
              <a:rPr sz="1400">
                <a:solidFill>
                  <a:srgbClr val="595959"/>
                </a:solidFill>
                <a:latin typeface="Roboto"/>
              </a:rPr>
              <a:t>latency, tokens and cost are explicit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380B0"/>
                </a:solidFill>
              </a:rPr>
              <a:t>●  </a:t>
            </a:r>
            <a:r>
              <a:rPr sz="1400" b="1">
                <a:solidFill>
                  <a:srgbClr val="212121"/>
                </a:solidFill>
                <a:latin typeface="Roboto"/>
              </a:rPr>
              <a:t>Governance: </a:t>
            </a:r>
            <a:r>
              <a:rPr sz="1400">
                <a:solidFill>
                  <a:srgbClr val="595959"/>
                </a:solidFill>
                <a:latin typeface="Roboto"/>
              </a:rPr>
              <a:t>access, masking and retention can be controlled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7772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380B0"/>
                </a:solidFill>
                <a:latin typeface="Roboto Condensed"/>
              </a:rPr>
              <a:t>SUCCESS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978408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12121"/>
                </a:solidFill>
                <a:latin typeface="Roboto Condensed"/>
              </a:rPr>
              <a:t>What we want to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914400" cy="4114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rvir-global-collabo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274320"/>
            <a:ext cx="1627632" cy="224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56848" y="6473952"/>
            <a:ext cx="29260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6D6E71"/>
                </a:solidFill>
                <a:latin typeface="Roboto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6E71"/>
                </a:solidFill>
                <a:latin typeface="Roboto Condensed"/>
              </a:rPr>
              <a:t>SERVIR GLOBAL RISK PLATFORM ·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10844784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9536" y="1490472"/>
            <a:ext cx="1234440" cy="310896"/>
          </a:xfrm>
          <a:prstGeom prst="round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499616"/>
            <a:ext cx="123444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REPRODUCE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453895"/>
            <a:ext cx="69951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12121"/>
                </a:solidFill>
                <a:latin typeface="Roboto Condensed"/>
              </a:rPr>
              <a:t>A reviewer can identify the exact prompt, model, evidence and tool versions behind an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54896" y="1508760"/>
            <a:ext cx="171907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380B0"/>
                </a:solidFill>
                <a:latin typeface="Roboto"/>
              </a:rPr>
              <a:t>100% traced requests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231136"/>
            <a:ext cx="10844784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9536" y="2423160"/>
            <a:ext cx="1234440" cy="310896"/>
          </a:xfrm>
          <a:prstGeom prst="roundRect">
            <a:avLst/>
          </a:prstGeom>
          <a:solidFill>
            <a:srgbClr val="C94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2432303"/>
            <a:ext cx="123444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DIAGNOSE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386584"/>
            <a:ext cx="69951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12121"/>
                </a:solidFill>
                <a:latin typeface="Roboto Condensed"/>
              </a:rPr>
              <a:t>A failed golden question can be traced to retrieval, calculation, tool or generation.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4896" y="2441448"/>
            <a:ext cx="171907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C94F3C"/>
                </a:solidFill>
                <a:latin typeface="Roboto"/>
              </a:rPr>
              <a:t>Cause found &lt; 10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163824"/>
            <a:ext cx="10844784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" y="3355848"/>
            <a:ext cx="1234440" cy="310896"/>
          </a:xfrm>
          <a:prstGeom prst="roundRect">
            <a:avLst/>
          </a:prstGeom>
          <a:solidFill>
            <a:srgbClr val="7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3364991"/>
            <a:ext cx="123444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319272"/>
            <a:ext cx="69951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12121"/>
                </a:solidFill>
                <a:latin typeface="Roboto Condensed"/>
              </a:rPr>
              <a:t>Two workflow versions can be compared with the same questions and scorecard.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4896" y="3374136"/>
            <a:ext cx="171907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04090"/>
                </a:solidFill>
                <a:latin typeface="Roboto"/>
              </a:rPr>
              <a:t>No silent regression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096512"/>
            <a:ext cx="10844784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9536" y="4288536"/>
            <a:ext cx="1234440" cy="310896"/>
          </a:xfrm>
          <a:prstGeom prst="roundRect">
            <a:avLst/>
          </a:prstGeom>
          <a:solidFill>
            <a:srgbClr val="91A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297680"/>
            <a:ext cx="123444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251960"/>
            <a:ext cx="69951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12121"/>
                </a:solidFill>
                <a:latin typeface="Roboto Condensed"/>
              </a:rPr>
              <a:t>The team can see and set expectations for latency, tokens and cost.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54896" y="4306824"/>
            <a:ext cx="171907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91AF3D"/>
                </a:solidFill>
                <a:latin typeface="Roboto"/>
              </a:rPr>
              <a:t>Cost/request visible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029200"/>
            <a:ext cx="10844784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59536" y="5221224"/>
            <a:ext cx="1234440" cy="310896"/>
          </a:xfrm>
          <a:prstGeom prst="round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230368"/>
            <a:ext cx="123444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GOVERN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184648"/>
            <a:ext cx="69951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12121"/>
                </a:solidFill>
                <a:latin typeface="Roboto Condensed"/>
              </a:rPr>
              <a:t>Sensitive content is masked and traces follow access and retention policies.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54896" y="5239512"/>
            <a:ext cx="171907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AB40"/>
                </a:solidFill>
                <a:latin typeface="Roboto"/>
              </a:rPr>
              <a:t>Policy checks 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7772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380B0"/>
                </a:solidFill>
                <a:latin typeface="Roboto Condensed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9784080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12121"/>
                </a:solidFill>
                <a:latin typeface="Roboto Condensed"/>
              </a:rPr>
              <a:t>Start small, prove value, then expand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914400" cy="41148"/>
          </a:xfrm>
          <a:prstGeom prst="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rvir-global-collabor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274320"/>
            <a:ext cx="1627632" cy="224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56848" y="6473952"/>
            <a:ext cx="29260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6D6E71"/>
                </a:solidFill>
                <a:latin typeface="Roboto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6D6E71"/>
                </a:solidFill>
                <a:latin typeface="Roboto Condensed"/>
              </a:rPr>
              <a:t>SERVIR GLOBAL RISK PLATFORM ·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298448"/>
            <a:ext cx="4983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12121"/>
                </a:solidFill>
                <a:latin typeface="Roboto Condensed"/>
              </a:rPr>
              <a:t>Expected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09928"/>
            <a:ext cx="4983480" cy="352044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100">
                <a:solidFill>
                  <a:srgbClr val="2380B0"/>
                </a:solidFill>
              </a:rPr>
              <a:t>●  </a:t>
            </a:r>
            <a:r>
              <a:rPr sz="1300">
                <a:solidFill>
                  <a:srgbClr val="595959"/>
                </a:solidFill>
                <a:latin typeface="Roboto"/>
              </a:rPr>
              <a:t>Diagnose incorrect answers faster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2380B0"/>
                </a:solidFill>
              </a:rPr>
              <a:t>●  </a:t>
            </a:r>
            <a:r>
              <a:rPr sz="1300">
                <a:solidFill>
                  <a:srgbClr val="595959"/>
                </a:solidFill>
                <a:latin typeface="Roboto"/>
              </a:rPr>
              <a:t>Reproduce results and investigate failures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2380B0"/>
                </a:solidFill>
              </a:rPr>
              <a:t>●  </a:t>
            </a:r>
            <a:r>
              <a:rPr sz="1300">
                <a:solidFill>
                  <a:srgbClr val="595959"/>
                </a:solidFill>
                <a:latin typeface="Roboto"/>
              </a:rPr>
              <a:t>Prevent quality regression between releases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2380B0"/>
                </a:solidFill>
              </a:rPr>
              <a:t>●  </a:t>
            </a:r>
            <a:r>
              <a:rPr sz="1300">
                <a:solidFill>
                  <a:srgbClr val="595959"/>
                </a:solidFill>
                <a:latin typeface="Roboto"/>
              </a:rPr>
              <a:t>Demonstrate evidence behind reported figures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2380B0"/>
                </a:solidFill>
              </a:rPr>
              <a:t>●  </a:t>
            </a:r>
            <a:r>
              <a:rPr sz="1300">
                <a:solidFill>
                  <a:srgbClr val="595959"/>
                </a:solidFill>
                <a:latin typeface="Roboto"/>
              </a:rPr>
              <a:t>Control latency, token usage and operating cost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2380B0"/>
                </a:solidFill>
              </a:rPr>
              <a:t>●  </a:t>
            </a:r>
            <a:r>
              <a:rPr sz="1300">
                <a:solidFill>
                  <a:srgbClr val="595959"/>
                </a:solidFill>
                <a:latin typeface="Roboto"/>
              </a:rPr>
              <a:t>Compare tools, prompts and models objectively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2380B0"/>
                </a:solidFill>
              </a:rPr>
              <a:t>●  </a:t>
            </a:r>
            <a:r>
              <a:rPr sz="1300">
                <a:solidFill>
                  <a:srgbClr val="595959"/>
                </a:solidFill>
                <a:latin typeface="Roboto"/>
              </a:rPr>
              <a:t>Improve stakeholder confidence and governance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1298448"/>
            <a:ext cx="5605272" cy="4069080"/>
          </a:xfrm>
          <a:prstGeom prst="roundRect">
            <a:avLst/>
          </a:prstGeom>
          <a:solidFill>
            <a:srgbClr val="F1F7FA"/>
          </a:solidFill>
          <a:ln w="12700">
            <a:solidFill>
              <a:srgbClr val="D7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9632" y="1581912"/>
            <a:ext cx="1572768" cy="310896"/>
          </a:xfrm>
          <a:prstGeom prst="roundRect">
            <a:avLst/>
          </a:prstGeom>
          <a:solidFill>
            <a:srgbClr val="91A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91056"/>
            <a:ext cx="1572768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Roboto"/>
              </a:rPr>
              <a:t>PROPOSED 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48256"/>
            <a:ext cx="4919472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212121"/>
                </a:solidFill>
                <a:latin typeface="Roboto Condensed"/>
              </a:rPr>
              <a:t>One observable planning explanation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743200"/>
            <a:ext cx="4709160" cy="169164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000">
                <a:solidFill>
                  <a:srgbClr val="91AF3D"/>
                </a:solidFill>
              </a:rPr>
              <a:t>●  </a:t>
            </a:r>
            <a:r>
              <a:rPr sz="1200" b="1">
                <a:solidFill>
                  <a:srgbClr val="212121"/>
                </a:solidFill>
                <a:latin typeface="Roboto"/>
              </a:rPr>
              <a:t>Scope: </a:t>
            </a:r>
            <a:r>
              <a:rPr sz="1200">
                <a:solidFill>
                  <a:srgbClr val="595959"/>
                </a:solidFill>
                <a:latin typeface="Roboto"/>
              </a:rPr>
              <a:t>one question, one workflow, 5–10 evidence records</a:t>
            </a:r>
          </a:p>
          <a:p>
            <a:pPr>
              <a:spcAft>
                <a:spcPts val="700"/>
              </a:spcAft>
            </a:pPr>
            <a:r>
              <a:rPr sz="1000">
                <a:solidFill>
                  <a:srgbClr val="91AF3D"/>
                </a:solidFill>
              </a:rPr>
              <a:t>●  </a:t>
            </a:r>
            <a:r>
              <a:rPr sz="1200" b="1">
                <a:solidFill>
                  <a:srgbClr val="212121"/>
                </a:solidFill>
                <a:latin typeface="Roboto"/>
              </a:rPr>
              <a:t>Stack: </a:t>
            </a:r>
            <a:r>
              <a:rPr sz="1200">
                <a:solidFill>
                  <a:srgbClr val="595959"/>
                </a:solidFill>
                <a:latin typeface="Roboto"/>
              </a:rPr>
              <a:t>LangGraph + OpenAI + Langfuse Cloud</a:t>
            </a:r>
          </a:p>
          <a:p>
            <a:pPr>
              <a:spcAft>
                <a:spcPts val="700"/>
              </a:spcAft>
            </a:pPr>
            <a:r>
              <a:rPr sz="1000">
                <a:solidFill>
                  <a:srgbClr val="91AF3D"/>
                </a:solidFill>
              </a:rPr>
              <a:t>●  </a:t>
            </a:r>
            <a:r>
              <a:rPr sz="1200" b="1">
                <a:solidFill>
                  <a:srgbClr val="212121"/>
                </a:solidFill>
                <a:latin typeface="Roboto"/>
              </a:rPr>
              <a:t>Effort: </a:t>
            </a:r>
            <a:r>
              <a:rPr sz="1200">
                <a:solidFill>
                  <a:srgbClr val="595959"/>
                </a:solidFill>
                <a:latin typeface="Roboto"/>
              </a:rPr>
              <a:t>approximately 2–4 development days</a:t>
            </a:r>
          </a:p>
          <a:p>
            <a:pPr>
              <a:spcAft>
                <a:spcPts val="700"/>
              </a:spcAft>
            </a:pPr>
            <a:r>
              <a:rPr sz="1000">
                <a:solidFill>
                  <a:srgbClr val="91AF3D"/>
                </a:solidFill>
              </a:rPr>
              <a:t>●  </a:t>
            </a:r>
            <a:r>
              <a:rPr sz="1200" b="1">
                <a:solidFill>
                  <a:srgbClr val="212121"/>
                </a:solidFill>
                <a:latin typeface="Roboto"/>
              </a:rPr>
              <a:t>Decision: </a:t>
            </a:r>
            <a:r>
              <a:rPr sz="1200">
                <a:solidFill>
                  <a:srgbClr val="595959"/>
                </a:solidFill>
                <a:latin typeface="Roboto"/>
              </a:rPr>
              <a:t>expand only after the trace and evaluation value is demonstrated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4754880"/>
            <a:ext cx="4956048" cy="393192"/>
          </a:xfrm>
          <a:prstGeom prst="roundRect">
            <a:avLst/>
          </a:prstGeom>
          <a:solidFill>
            <a:srgbClr val="238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4818888"/>
            <a:ext cx="495604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Roboto Condensed"/>
              </a:rPr>
              <a:t>NEXT: CREATE LANGFUSE PROJECT + PRIVATE KEYS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870448"/>
            <a:ext cx="1084478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2380B0"/>
                </a:solidFill>
                <a:latin typeface="Roboto Condensed"/>
              </a:rPr>
              <a:t>The goal is not more logging. The goal is evidence that the AI system behaves as intended.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GRP AI Observability and Evaluation Proposal</dc:title>
  <dc:subject>LangGraph, OpenAI and Langfuse Cloud proof of concept</dc:subject>
  <dc:creator>SERVIR Global Risk Platform</dc:creator>
  <cp:keywords>AI observability, evaluation, LangGraph, Langfuse, OpenAI, GRP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